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70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hsx6UH4V7dlk7RoKnJsx3BAXn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54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 i="0" dirty="0">
                <a:solidFill>
                  <a:schemeClr val="tx1"/>
                </a:solidFill>
                <a:latin typeface="Cambria"/>
              </a:rPr>
              <a:t>Comparison on the same split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F2A6B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>
                    <a:latin typeface="Cambr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MLP</c:v>
                </c:pt>
                <c:pt idx="1">
                  <c:v>CNN</c:v>
                </c:pt>
                <c:pt idx="2">
                  <c:v>GRU</c:v>
                </c:pt>
                <c:pt idx="3">
                  <c:v>LSTM</c:v>
                </c:pt>
                <c:pt idx="4">
                  <c:v>Transformer</c:v>
                </c:pt>
                <c:pt idx="5">
                  <c:v>MobileNetV3</c:v>
                </c:pt>
                <c:pt idx="6">
                  <c:v>FallGuardNet v1</c:v>
                </c:pt>
                <c:pt idx="7">
                  <c:v>FallGuardNet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0.45500000000000002</c:v>
                </c:pt>
                <c:pt idx="1">
                  <c:v>0.56200000000000006</c:v>
                </c:pt>
                <c:pt idx="2">
                  <c:v>0.47599999999999998</c:v>
                </c:pt>
                <c:pt idx="3">
                  <c:v>0.32100000000000001</c:v>
                </c:pt>
                <c:pt idx="4">
                  <c:v>0.66700000000000004</c:v>
                </c:pt>
                <c:pt idx="5">
                  <c:v>0.75</c:v>
                </c:pt>
                <c:pt idx="6">
                  <c:v>0.66700000000000004</c:v>
                </c:pt>
                <c:pt idx="7">
                  <c:v>0.88900000000000001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330-49C1-A3B0-E8D1426913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Specificity</c:v>
                </c:pt>
              </c:strCache>
            </c:strRef>
          </c:tx>
          <c:spPr>
            <a:solidFill>
              <a:srgbClr val="D9822B"/>
            </a:solidFill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>
                    <a:latin typeface="Cambr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MLP</c:v>
                </c:pt>
                <c:pt idx="1">
                  <c:v>CNN</c:v>
                </c:pt>
                <c:pt idx="2">
                  <c:v>GRU</c:v>
                </c:pt>
                <c:pt idx="3">
                  <c:v>LSTM</c:v>
                </c:pt>
                <c:pt idx="4">
                  <c:v>Transformer</c:v>
                </c:pt>
                <c:pt idx="5">
                  <c:v>MobileNetV3</c:v>
                </c:pt>
                <c:pt idx="6">
                  <c:v>FallGuardNet v1</c:v>
                </c:pt>
                <c:pt idx="7">
                  <c:v>FallGuardNet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0.88300000000000001</c:v>
                </c:pt>
                <c:pt idx="1">
                  <c:v>0.78300000000000003</c:v>
                </c:pt>
                <c:pt idx="2">
                  <c:v>0.9</c:v>
                </c:pt>
                <c:pt idx="3">
                  <c:v>0.38300000000000001</c:v>
                </c:pt>
                <c:pt idx="4">
                  <c:v>0.86699999999999999</c:v>
                </c:pt>
                <c:pt idx="5">
                  <c:v>0.91700000000000004</c:v>
                </c:pt>
                <c:pt idx="6">
                  <c:v>0.86699999999999999</c:v>
                </c:pt>
                <c:pt idx="7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330-49C1-A3B0-E8D14269135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BBBC4"/>
            </a:solidFill>
          </a:ln>
        </c:spPr>
        <c:txPr>
          <a:bodyPr/>
          <a:lstStyle/>
          <a:p>
            <a:pPr>
              <a:defRPr sz="1000">
                <a:latin typeface="Cambria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1000000000000001"/>
          <c:min val="0"/>
        </c:scaling>
        <c:delete val="0"/>
        <c:axPos val="t"/>
        <c:majorGridlines>
          <c:spPr>
            <a:ln>
              <a:solidFill>
                <a:srgbClr val="E3E5EC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latin typeface="Cambria"/>
              </a:defRPr>
            </a:pPr>
            <a:endParaRPr lang="en-US"/>
          </a:p>
        </c:txPr>
        <c:crossAx val="-2068027336"/>
        <c:crosses val="autoZero"/>
        <c:crossBetween val="between"/>
        <c:majorUnit val="0.5"/>
      </c:valAx>
    </c:plotArea>
    <c:legend>
      <c:legendPos val="b"/>
      <c:overlay val="0"/>
      <c:txPr>
        <a:bodyPr/>
        <a:lstStyle/>
        <a:p>
          <a:pPr>
            <a:defRPr sz="1000">
              <a:latin typeface="Cambria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a2ae110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3da2ae110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a2ae1107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da2ae1107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h6d4135b7776ce1ef_0_9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h6d4135b7776ce1ef_0_9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h6d4135b7776ce1ef_0_9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h6d4135b7776ce1ef_0_10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h6d4135b7776ce1ef_0_10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h6d4135b7776ce1ef_0_10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h6d4135b7776ce1ef_0_10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h6d4135b7776ce1ef_0_10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h6d4135b7776ce1ef_0_10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h6d4135b7776ce1ef_0_10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h6d4135b7776ce1ef_0_10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h6d4135b7776ce1ef_0_10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h6d4135b7776ce1ef_0_1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h6d4135b7776ce1ef_0_1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h6d4135b7776ce1ef_0_1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h6d4135b7776ce1ef_0_1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h6d4135b7776ce1ef_0_1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h6d4135b7776ce1ef_0_11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h6d4135b7776ce1ef_0_1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h6d4135b7776ce1ef_0_1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h6d4135b7776ce1ef_0_12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h6d4135b7776ce1ef_0_12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h6d4135b7776ce1ef_0_12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h6d4135b7776ce1ef_0_1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h6d4135b7776ce1ef_0_1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h6d4135b7776ce1ef_0_1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h6d4135b7776ce1ef_0_13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h6d4135b7776ce1ef_0_13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h6d4135b7776ce1ef_0_1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h6d4135b7776ce1ef_0_1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h6d4135b7776ce1ef_0_9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h6d4135b7776ce1ef_0_9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h6d4135b7776ce1ef_0_9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1071575" y="868680"/>
            <a:ext cx="736710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sz="1700" b="1" i="0" dirty="0">
                <a:solidFill>
                  <a:srgbClr val="000000"/>
                </a:solidFill>
                <a:latin typeface="Cambria"/>
              </a:rPr>
              <a:t>Privacy-Preserving Wi-Fi CSI-Based Fall Detection System with Edge Neural Inference and Event-Driven Agentic Voice Interaction for Rule-Based Caregiver Escalation</a:t>
            </a:r>
            <a:endParaRPr sz="2500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" name="Google Shape;55;p1"/>
          <p:cNvSpPr txBox="1">
            <a:spLocks noGrp="1"/>
          </p:cNvSpPr>
          <p:nvPr>
            <p:ph type="subTitle" idx="1"/>
          </p:nvPr>
        </p:nvSpPr>
        <p:spPr>
          <a:xfrm>
            <a:off x="338159" y="2760110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SzPts val="1600"/>
              <a:buNone/>
            </a:pPr>
            <a:r>
              <a:rPr sz="1600" b="1" i="0" dirty="0">
                <a:solidFill>
                  <a:srgbClr val="26262B"/>
                </a:solidFill>
                <a:latin typeface="Cambria"/>
              </a:rPr>
              <a:t>Mentor</a:t>
            </a:r>
            <a:r>
              <a:rPr lang="en-IN" sz="1600" b="1" i="0" dirty="0">
                <a:solidFill>
                  <a:srgbClr val="26262B"/>
                </a:solidFill>
                <a:latin typeface="Cambria"/>
              </a:rPr>
              <a:t> Name </a:t>
            </a:r>
            <a:r>
              <a:rPr sz="1600" b="0" i="0" dirty="0">
                <a:solidFill>
                  <a:srgbClr val="26262B"/>
                </a:solidFill>
                <a:latin typeface="Cambria"/>
              </a:rPr>
              <a:t>:Dr. Mrs. </a:t>
            </a:r>
            <a:r>
              <a:rPr sz="1600" b="0" i="0" dirty="0" err="1">
                <a:solidFill>
                  <a:srgbClr val="26262B"/>
                </a:solidFill>
                <a:latin typeface="Cambria"/>
              </a:rPr>
              <a:t>Gresha</a:t>
            </a:r>
            <a:r>
              <a:rPr sz="1600" b="0" i="0" dirty="0">
                <a:solidFill>
                  <a:srgbClr val="26262B"/>
                </a:solidFill>
                <a:latin typeface="Cambria"/>
              </a:rPr>
              <a:t> Bhatia</a:t>
            </a:r>
          </a:p>
        </p:txBody>
      </p:sp>
      <p:sp>
        <p:nvSpPr>
          <p:cNvPr id="56" name="Google Shape;56;p1"/>
          <p:cNvSpPr txBox="1"/>
          <p:nvPr/>
        </p:nvSpPr>
        <p:spPr>
          <a:xfrm>
            <a:off x="345349" y="2188639"/>
            <a:ext cx="4206240" cy="6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600" b="1" i="0" dirty="0">
                <a:solidFill>
                  <a:srgbClr val="26262B"/>
                </a:solidFill>
                <a:latin typeface="Cambria"/>
              </a:rPr>
              <a:t>Group Number</a:t>
            </a:r>
            <a:r>
              <a:rPr sz="1600" b="0" i="0" dirty="0">
                <a:solidFill>
                  <a:srgbClr val="26262B"/>
                </a:solidFill>
                <a:latin typeface="Cambria"/>
              </a:rPr>
              <a:t> : </a:t>
            </a:r>
            <a:r>
              <a:rPr lang="en-IN" sz="1600" dirty="0">
                <a:solidFill>
                  <a:srgbClr val="26262B"/>
                </a:solidFill>
                <a:latin typeface="Cambria"/>
              </a:rPr>
              <a:t>6</a:t>
            </a:r>
            <a:endParaRPr sz="1600" i="0" u="none" strike="noStrike" cap="none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xfrm>
            <a:off x="345349" y="3283715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1600"/>
              <a:buNone/>
            </a:pPr>
            <a:r>
              <a:rPr sz="1600" b="1" i="0" dirty="0">
                <a:solidFill>
                  <a:srgbClr val="26262B"/>
                </a:solidFill>
                <a:latin typeface="Cambria"/>
              </a:rPr>
              <a:t>Team Members</a:t>
            </a:r>
            <a:r>
              <a:rPr sz="1600" b="0" i="0" dirty="0">
                <a:solidFill>
                  <a:srgbClr val="26262B"/>
                </a:solidFill>
                <a:latin typeface="Cambria"/>
              </a:rPr>
              <a:t> :</a:t>
            </a:r>
            <a:endParaRPr sz="1600" b="1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 dirty="0">
                <a:solidFill>
                  <a:srgbClr val="26262B"/>
                </a:solidFill>
                <a:latin typeface="Cambria"/>
              </a:rPr>
              <a:t>1.  Neha Mankani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 dirty="0">
                <a:solidFill>
                  <a:srgbClr val="26262B"/>
                </a:solidFill>
                <a:latin typeface="Cambria"/>
              </a:rPr>
              <a:t>2.  Shraddha Bhagwat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 dirty="0">
                <a:solidFill>
                  <a:srgbClr val="26262B"/>
                </a:solidFill>
                <a:latin typeface="Cambria"/>
              </a:rPr>
              <a:t>3.  Shambhavi Patil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 dirty="0">
                <a:solidFill>
                  <a:srgbClr val="26262B"/>
                </a:solidFill>
                <a:latin typeface="Cambria"/>
              </a:rPr>
              <a:t>4.  Supriya Nayak</a:t>
            </a:r>
          </a:p>
        </p:txBody>
      </p:sp>
      <p:pic>
        <p:nvPicPr>
          <p:cNvPr id="58" name="Google Shape;58;p1" title="VESIT LOGO ICON (1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475" y="107423"/>
            <a:ext cx="725325" cy="10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"/>
          <p:cNvSpPr txBox="1"/>
          <p:nvPr/>
        </p:nvSpPr>
        <p:spPr>
          <a:xfrm>
            <a:off x="185250" y="107425"/>
            <a:ext cx="8773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b="1">
                <a:solidFill>
                  <a:srgbClr val="0C0A9E"/>
                </a:solidFill>
                <a:latin typeface="Cambria"/>
                <a:ea typeface="Cambria"/>
                <a:cs typeface="Cambria"/>
                <a:sym typeface="Cambria"/>
              </a:rPr>
              <a:t>Research Methodology Review - I</a:t>
            </a:r>
            <a:endParaRPr sz="2300" b="1">
              <a:solidFill>
                <a:srgbClr val="0C0A9E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E151F-96DC-E75D-31F3-9839AD5218ED}"/>
              </a:ext>
            </a:extLst>
          </p:cNvPr>
          <p:cNvSpPr txBox="1"/>
          <p:nvPr/>
        </p:nvSpPr>
        <p:spPr>
          <a:xfrm>
            <a:off x="5512302" y="1843176"/>
            <a:ext cx="14302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/>
              <a:t>SDG Goals</a:t>
            </a:r>
            <a:r>
              <a:rPr lang="en-IN" sz="1600" dirty="0"/>
              <a:t> : </a:t>
            </a:r>
          </a:p>
          <a:p>
            <a:br>
              <a:rPr lang="en-IN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EC18F5-7073-C2E7-1D7A-747B2A4A8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5503" y="2196092"/>
            <a:ext cx="1304925" cy="1304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29C00B-7110-FE88-3A58-2EBDAFB83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1373" y="2263223"/>
            <a:ext cx="1304925" cy="13049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5F5A30-35BA-E6F2-EAF7-A62EE96758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2269" y="2227897"/>
            <a:ext cx="1304925" cy="1304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EB0B21-9978-C9C4-B621-60E8B4B466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9602" y="3664475"/>
            <a:ext cx="1371600" cy="1371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1F3B57-D039-ACE4-6F8B-FAD1C0C89A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469" y="36556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>
            <a:spLocks noGrp="1"/>
          </p:cNvSpPr>
          <p:nvPr>
            <p:ph type="title"/>
          </p:nvPr>
        </p:nvSpPr>
        <p:spPr>
          <a:xfrm>
            <a:off x="559400" y="1660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Content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" name="Google Shape;66;p2"/>
          <p:cNvSpPr txBox="1">
            <a:spLocks noGrp="1"/>
          </p:cNvSpPr>
          <p:nvPr>
            <p:ph type="body" idx="1"/>
          </p:nvPr>
        </p:nvSpPr>
        <p:spPr>
          <a:xfrm>
            <a:off x="716200" y="803950"/>
            <a:ext cx="7708200" cy="39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mbria"/>
              <a:buAutoNum type="arabicPeriod"/>
            </a:pPr>
            <a:r>
              <a:rPr lang="en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Research Problem Formulation</a:t>
            </a:r>
            <a:endParaRPr sz="2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mbria"/>
              <a:buAutoNum type="arabicPeriod"/>
            </a:pPr>
            <a:r>
              <a:rPr lang="en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Novelty &amp; Research Contribution</a:t>
            </a:r>
            <a:endParaRPr sz="2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mbria"/>
              <a:buAutoNum type="arabicPeriod"/>
            </a:pPr>
            <a:r>
              <a:rPr lang="en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Literature Review &amp; Research Gap Analysis</a:t>
            </a:r>
            <a:endParaRPr sz="2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mbria"/>
              <a:buAutoNum type="arabicPeriod"/>
            </a:pPr>
            <a:r>
              <a:rPr lang="en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Research Methodology / Experimental Design</a:t>
            </a:r>
            <a:endParaRPr sz="2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mbria"/>
              <a:buAutoNum type="arabicPeriod"/>
            </a:pPr>
            <a:r>
              <a:rPr lang="en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Modern Tool Usage</a:t>
            </a:r>
            <a:endParaRPr sz="2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mbria"/>
              <a:buAutoNum type="arabicPeriod"/>
            </a:pPr>
            <a:r>
              <a:rPr lang="en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Result Analysis &amp; Validation</a:t>
            </a:r>
            <a:endParaRPr sz="2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mbria"/>
              <a:buAutoNum type="arabicPeriod"/>
            </a:pPr>
            <a:r>
              <a:rPr lang="en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Quality of Figures, Tables, etc.</a:t>
            </a:r>
            <a:endParaRPr sz="2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mbria"/>
              <a:buAutoNum type="arabicPeriod"/>
            </a:pPr>
            <a:r>
              <a:rPr lang="en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Manuscript Organization &amp; Technical Writing</a:t>
            </a:r>
            <a:endParaRPr sz="2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mbria"/>
              <a:buAutoNum type="arabicPeriod"/>
            </a:pPr>
            <a:r>
              <a:rPr lang="en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References &amp; Their Relevance</a:t>
            </a:r>
            <a:endParaRPr sz="2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mbria"/>
              <a:buAutoNum type="arabicPeriod"/>
            </a:pPr>
            <a:r>
              <a:rPr lang="en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SDG / Societal / Practical Relevance</a:t>
            </a:r>
            <a:endParaRPr sz="2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247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mbria"/>
              <a:buAutoNum type="arabicPeriod"/>
            </a:pPr>
            <a:r>
              <a:rPr lang="en" sz="21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Student Contribution &amp; Research Presentation</a:t>
            </a:r>
            <a:endParaRPr sz="21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0" lvl="0" indent="34290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>
            <a:spLocks noGrp="1"/>
          </p:cNvSpPr>
          <p:nvPr>
            <p:ph type="title"/>
          </p:nvPr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dirty="0">
                <a:solidFill>
                  <a:schemeClr val="tx1"/>
                </a:solidFill>
                <a:latin typeface="Cambria"/>
              </a:rPr>
              <a:t>Research Problem Formulation</a:t>
            </a:r>
            <a:endParaRPr b="1" dirty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411480" y="868680"/>
            <a:ext cx="832104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i="0" dirty="0">
                <a:solidFill>
                  <a:srgbClr val="26262B"/>
                </a:solidFill>
                <a:latin typeface="Cambria"/>
              </a:rPr>
              <a:t>Falls are a major cause of injury among elderly people living alone — existing detection options each fall short: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11480" y="1411794"/>
            <a:ext cx="2651760" cy="194844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8640" y="1520258"/>
            <a:ext cx="2468879" cy="15711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 dirty="0">
                <a:solidFill>
                  <a:schemeClr val="tx1"/>
                </a:solidFill>
                <a:latin typeface="Cambria"/>
              </a:rPr>
              <a:t>Wearable devices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 dirty="0">
                <a:solidFill>
                  <a:srgbClr val="26262B"/>
                </a:solidFill>
                <a:latin typeface="Cambria"/>
              </a:rPr>
              <a:t>Must be worn and charged regularly; often left unused, especially by people with cognitive or motor impairments.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201268" y="1411793"/>
            <a:ext cx="2651760" cy="1942399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6" name="TextBox 75"/>
          <p:cNvSpPr txBox="1"/>
          <p:nvPr/>
        </p:nvSpPr>
        <p:spPr>
          <a:xfrm>
            <a:off x="3337560" y="1492036"/>
            <a:ext cx="2468879" cy="132497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 dirty="0">
                <a:solidFill>
                  <a:schemeClr val="tx1"/>
                </a:solidFill>
                <a:latin typeface="Cambria"/>
              </a:rPr>
              <a:t>Camera-based systems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 dirty="0">
                <a:solidFill>
                  <a:srgbClr val="26262B"/>
                </a:solidFill>
                <a:latin typeface="Cambria"/>
              </a:rPr>
              <a:t>Raise privacy concerns and are unsuitable for private areas such as bathrooms and bedrooms.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080760" y="1411792"/>
            <a:ext cx="2651760" cy="1942399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172200" y="1520258"/>
            <a:ext cx="2468879" cy="15711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600" b="1" i="0" dirty="0">
                <a:solidFill>
                  <a:schemeClr val="tx1"/>
                </a:solidFill>
                <a:latin typeface="Cambria"/>
              </a:rPr>
              <a:t>Wi-Fi sensing systems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 dirty="0">
                <a:solidFill>
                  <a:srgbClr val="26262B"/>
                </a:solidFill>
                <a:latin typeface="Cambria"/>
              </a:rPr>
              <a:t>Avoid both problems, but prior art mostly stops at detection — no interaction with the person, no escalation procedure.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3509024"/>
            <a:ext cx="8046720" cy="1065933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 dirty="0">
                <a:solidFill>
                  <a:schemeClr val="tx1"/>
                </a:solidFill>
                <a:latin typeface="Cambria"/>
              </a:rPr>
              <a:t>Problem statement  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 dirty="0">
                <a:solidFill>
                  <a:schemeClr val="tx1"/>
                </a:solidFill>
                <a:latin typeface="Cambria"/>
              </a:rPr>
              <a:t>Design a low-cost, privacy-preserving system that detects falls from Wi-Fi CSI without wearables or cameras, and responds to a detected fall in the person’s own language under predictable safety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>
            <a:spLocks noGrp="1"/>
          </p:cNvSpPr>
          <p:nvPr>
            <p:ph type="title"/>
          </p:nvPr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dirty="0">
                <a:solidFill>
                  <a:schemeClr val="tx1"/>
                </a:solidFill>
                <a:latin typeface="Cambria"/>
              </a:rPr>
              <a:t>Novelty &amp; Research Contribution</a:t>
            </a:r>
            <a:endParaRPr b="1" dirty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411480" y="960120"/>
            <a:ext cx="4069080" cy="14173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521208" y="1088136"/>
            <a:ext cx="310896" cy="310896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" y="1033272"/>
            <a:ext cx="3474720" cy="8710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 dirty="0">
                <a:solidFill>
                  <a:schemeClr val="tx1"/>
                </a:solidFill>
                <a:latin typeface="Cambria"/>
              </a:rPr>
              <a:t>Single-antenna, amplitude-only sensing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26262B"/>
                </a:solidFill>
                <a:latin typeface="Cambria"/>
              </a:rPr>
              <a:t>One receiving antenna on a low-cost ESP32; amplitude of 52 fixed subcarriers, no phase and no multi-antenna processing.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663440" y="960120"/>
            <a:ext cx="4069080" cy="14173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4773168" y="1088136"/>
            <a:ext cx="310896" cy="310896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66360" y="1033272"/>
            <a:ext cx="3474720" cy="10633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 dirty="0" err="1">
                <a:solidFill>
                  <a:schemeClr val="tx1"/>
                </a:solidFill>
                <a:latin typeface="Cambria"/>
              </a:rPr>
              <a:t>FallGuardNet</a:t>
            </a:r>
            <a:r>
              <a:rPr sz="1300" b="1" i="0" dirty="0">
                <a:solidFill>
                  <a:schemeClr val="tx1"/>
                </a:solidFill>
                <a:latin typeface="Cambria"/>
              </a:rPr>
              <a:t> — compact edge network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26262B"/>
                </a:solidFill>
                <a:latin typeface="Cambria"/>
              </a:rPr>
              <a:t>21,571 parameters, trained by knowledge distillation; in-network periodicity and stillness scores separate falls from walking/running; runs on Raspberry Pi 5.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11480" y="2542032"/>
            <a:ext cx="4069080" cy="14173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521208" y="2670048"/>
            <a:ext cx="310896" cy="310896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4400" y="2615184"/>
            <a:ext cx="3474720" cy="10633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 dirty="0">
                <a:solidFill>
                  <a:schemeClr val="tx1"/>
                </a:solidFill>
                <a:latin typeface="Cambria"/>
              </a:rPr>
              <a:t>Detection → complete escalation loop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26262B"/>
                </a:solidFill>
                <a:latin typeface="Cambria"/>
              </a:rPr>
              <a:t>Event-driven agentic voice layer: creates an incident, speaks in the preferred language, interprets the reply, asks follow-ups, handles silence.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663440" y="2542032"/>
            <a:ext cx="4069080" cy="14173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4773168" y="2670048"/>
            <a:ext cx="310896" cy="310896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66360" y="2615184"/>
            <a:ext cx="3474720" cy="10633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 dirty="0">
                <a:solidFill>
                  <a:schemeClr val="tx1"/>
                </a:solidFill>
                <a:latin typeface="Cambria"/>
              </a:rPr>
              <a:t>LLM proposes, rules decide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26262B"/>
                </a:solidFill>
                <a:latin typeface="Cambria"/>
              </a:rPr>
              <a:t>The language model supplies only a </a:t>
            </a:r>
            <a:r>
              <a:rPr sz="1250" b="0" i="0" dirty="0" err="1">
                <a:solidFill>
                  <a:srgbClr val="26262B"/>
                </a:solidFill>
                <a:latin typeface="Cambria"/>
              </a:rPr>
              <a:t>recognised</a:t>
            </a:r>
            <a:r>
              <a:rPr sz="1250" b="0" i="0" dirty="0">
                <a:solidFill>
                  <a:srgbClr val="26262B"/>
                </a:solidFill>
                <a:latin typeface="Cambria"/>
              </a:rPr>
              <a:t> intent; a rule-based safety-policy controller decides. Delivery and acknowledgement are tracked; context is retained.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11480" y="4069080"/>
            <a:ext cx="8321040" cy="731520"/>
          </a:xfrm>
          <a:prstGeom prst="roundRect">
            <a:avLst>
              <a:gd name="adj" fmla="val 6000"/>
            </a:avLst>
          </a:prstGeom>
          <a:solidFill>
            <a:srgbClr val="FB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48640" y="4069080"/>
            <a:ext cx="8046720" cy="7315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F2A6B"/>
                </a:solidFill>
                <a:latin typeface="Cambria"/>
              </a:rPr>
              <a:t>Contribution: </a:t>
            </a:r>
            <a:r>
              <a:rPr sz="1200" b="0" i="0">
                <a:solidFill>
                  <a:srgbClr val="26262B"/>
                </a:solidFill>
                <a:latin typeface="Cambria"/>
              </a:rPr>
              <a:t>a contactless, camera-free system that both detects a fall and manages the response. As far as the applicants are aware, these features are not disclosed together in prior patents [1]–[4].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 txBox="1">
            <a:spLocks noGrp="1"/>
          </p:cNvSpPr>
          <p:nvPr>
            <p:ph type="title"/>
          </p:nvPr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dirty="0">
                <a:solidFill>
                  <a:schemeClr val="tx1"/>
                </a:solidFill>
                <a:latin typeface="Cambria"/>
              </a:rPr>
              <a:t>Literature Review &amp; Research Gap Analysis</a:t>
            </a:r>
            <a:endParaRPr sz="2200" b="1" dirty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84" name="Table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706474"/>
              </p:ext>
            </p:extLst>
          </p:nvPr>
        </p:nvGraphicFramePr>
        <p:xfrm>
          <a:off x="411480" y="914400"/>
          <a:ext cx="8321040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 i="0" dirty="0">
                          <a:solidFill>
                            <a:schemeClr val="tx1"/>
                          </a:solidFill>
                          <a:latin typeface="Cambria"/>
                        </a:rPr>
                        <a:t>Prior art</a:t>
                      </a:r>
                    </a:p>
                  </a:txBody>
                  <a:tcPr marL="64008" marR="64008" marT="32004" marB="32004" anchor="ctr">
                    <a:solidFill>
                      <a:schemeClr val="accent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 i="0" dirty="0">
                          <a:solidFill>
                            <a:schemeClr val="tx1"/>
                          </a:solidFill>
                          <a:latin typeface="Cambria"/>
                        </a:rPr>
                        <a:t>Approach</a:t>
                      </a:r>
                    </a:p>
                  </a:txBody>
                  <a:tcPr marL="64008" marR="64008" marT="32004" marB="32004" anchor="ctr">
                    <a:solidFill>
                      <a:schemeClr val="accent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 i="0" dirty="0">
                          <a:solidFill>
                            <a:schemeClr val="tx1"/>
                          </a:solidFill>
                          <a:latin typeface="Cambria"/>
                        </a:rPr>
                        <a:t>Limitation</a:t>
                      </a:r>
                    </a:p>
                  </a:txBody>
                  <a:tcPr marL="64008" marR="64008" marT="32004" marB="32004" anchor="ctr">
                    <a:solidFill>
                      <a:schemeClr val="accent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 i="0" dirty="0">
                          <a:solidFill>
                            <a:schemeClr val="tx1"/>
                          </a:solidFill>
                          <a:latin typeface="Cambria"/>
                        </a:rPr>
                        <a:t>How Sannidhi addresses it</a:t>
                      </a:r>
                    </a:p>
                  </a:txBody>
                  <a:tcPr marL="64008" marR="64008" marT="32004" marB="32004" anchor="ctr">
                    <a:solidFill>
                      <a:schemeClr val="accent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 i="0" dirty="0">
                          <a:solidFill>
                            <a:schemeClr val="tx1"/>
                          </a:solidFill>
                          <a:latin typeface="Cambria"/>
                        </a:rPr>
                        <a:t>[1] US 10,531,817 B2
Peking Univ.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 i="0" dirty="0">
                          <a:solidFill>
                            <a:srgbClr val="26262B"/>
                          </a:solidFill>
                          <a:latin typeface="Cambria"/>
                        </a:rPr>
                        <a:t>≥2 RX antennas, phase difference, hand-made features, one-class SVM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B"/>
                          </a:solidFill>
                          <a:latin typeface="Cambria"/>
                        </a:rPr>
                        <a:t>Needs multi-antenna hardware and phase; weak on walking/running; no interaction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B"/>
                          </a:solidFill>
                          <a:latin typeface="Cambria"/>
                        </a:rPr>
                        <a:t>Single antenna, amplitude only; learned features + periodicity/stillness scores; voice follow-up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 i="0" dirty="0">
                          <a:solidFill>
                            <a:schemeClr val="tx1"/>
                          </a:solidFill>
                          <a:latin typeface="Cambria"/>
                        </a:rPr>
                        <a:t>[2] CN 112346050 B
Tsinghua Univ.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B"/>
                          </a:solidFill>
                          <a:latin typeface="Cambria"/>
                        </a:rPr>
                        <a:t>Body speed from CSI fed to a trained fall model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B"/>
                          </a:solidFill>
                          <a:latin typeface="Cambria"/>
                        </a:rPr>
                        <a:t>Outputs detection only; no escalation; edge execution not described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B"/>
                          </a:solidFill>
                          <a:latin typeface="Cambria"/>
                        </a:rPr>
                        <a:t>Runs locally on Raspberry Pi 5; detection event drives the agentic escalation layer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 i="0" dirty="0">
                          <a:solidFill>
                            <a:schemeClr val="tx1"/>
                          </a:solidFill>
                          <a:latin typeface="Cambria"/>
                        </a:rPr>
                        <a:t>[3] US 2024/0112559 A1
Google LLC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 i="0" dirty="0">
                          <a:solidFill>
                            <a:srgbClr val="26262B"/>
                          </a:solidFill>
                          <a:latin typeface="Cambria"/>
                        </a:rPr>
                        <a:t>Radar fall detection, speaker prompt, spoken reply, alert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B"/>
                          </a:solidFill>
                          <a:latin typeface="Cambria"/>
                        </a:rPr>
                        <a:t>Dedicated radar hardware; no rule-based escalation, clarification, ack tracking or context memory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B"/>
                          </a:solidFill>
                          <a:latin typeface="Cambria"/>
                        </a:rPr>
                        <a:t>Commodity Wi-Fi; rule-based controller; clarify / timeout paths; delivery tracking; incident store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1" i="0" dirty="0">
                          <a:solidFill>
                            <a:schemeClr val="tx1"/>
                          </a:solidFill>
                          <a:latin typeface="Cambria"/>
                        </a:rPr>
                        <a:t>[4] US 8,217,795 B2
Carlton-Foss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B"/>
                          </a:solidFill>
                          <a:latin typeface="Cambria"/>
                        </a:rPr>
                        <a:t>Wearable accelerometer alerts a console or call centre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 i="0">
                          <a:solidFill>
                            <a:srgbClr val="26262B"/>
                          </a:solidFill>
                          <a:latin typeface="Cambria"/>
                        </a:rPr>
                        <a:t>Must be worn and charged; bare alert; no interaction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50" b="0" i="0" dirty="0">
                          <a:solidFill>
                            <a:srgbClr val="26262B"/>
                          </a:solidFill>
                          <a:latin typeface="Cambria"/>
                        </a:rPr>
                        <a:t>Contactless, no camera; asks the person; alerts caregiver with incident context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6" name="TextBox 85"/>
          <p:cNvSpPr txBox="1"/>
          <p:nvPr/>
        </p:nvSpPr>
        <p:spPr>
          <a:xfrm>
            <a:off x="411480" y="4103676"/>
            <a:ext cx="8046720" cy="54784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>
              <a:spcAft>
                <a:spcPts val="400"/>
              </a:spcAft>
            </a:pPr>
            <a:r>
              <a:rPr lang="en-US" sz="1600" b="1" dirty="0">
                <a:solidFill>
                  <a:schemeClr val="tx1"/>
                </a:solidFill>
                <a:latin typeface="Cambria"/>
              </a:rPr>
              <a:t>Research gap: </a:t>
            </a:r>
            <a:r>
              <a:rPr lang="en-US" sz="1600" dirty="0">
                <a:solidFill>
                  <a:schemeClr val="tx1"/>
                </a:solidFill>
                <a:latin typeface="Cambria"/>
              </a:rPr>
              <a:t>no prior art combines single-antenna CSI sensing, edge inference and a safety-controlled, multilingual voice escalation loop.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dirty="0">
                <a:solidFill>
                  <a:schemeClr val="tx1"/>
                </a:solidFill>
                <a:latin typeface="Cambria"/>
              </a:rPr>
              <a:t>Research Methodology / Experimental Design  (1/3)</a:t>
            </a:r>
            <a:endParaRPr b="1" dirty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9822B"/>
                </a:solidFill>
                <a:latin typeface="Cambria"/>
              </a:rPr>
              <a:t>System architecture and signal pipeline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480" y="4447032"/>
            <a:ext cx="484632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1">
                <a:solidFill>
                  <a:srgbClr val="5A5F73"/>
                </a:solidFill>
                <a:latin typeface="Cambria"/>
              </a:rPr>
              <a:t>FIG. 1 – System block diagram (from provisional specification)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257801" y="689517"/>
            <a:ext cx="3849750" cy="991391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4" name="TextBox 93"/>
          <p:cNvSpPr txBox="1"/>
          <p:nvPr/>
        </p:nvSpPr>
        <p:spPr>
          <a:xfrm>
            <a:off x="5257800" y="702179"/>
            <a:ext cx="3758309" cy="9787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en-IN" sz="1200" b="1" dirty="0"/>
              <a:t>1. Data Sensing &amp; Collection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The sensing unit captures relevant signals from the surrounding environment.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The collected data is transmitted to the processing unit through a communication interface.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257800" y="1734361"/>
            <a:ext cx="3849750" cy="1019037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349239" y="1764425"/>
            <a:ext cx="3758310" cy="9787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en-IN" sz="1200" b="1" dirty="0"/>
              <a:t>2. Data Processing &amp; Pre-processing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The received data is collected, organized, and pre-processed for further analysis.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Signal processing and normalization are performed to improve the quality and consistency of the input.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252723" y="2792844"/>
            <a:ext cx="3849750" cy="1163395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325937" y="2816089"/>
            <a:ext cx="3776536" cy="11633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en-IN" sz="1200" b="1" dirty="0"/>
              <a:t>3. Intelligent Analysis &amp; Decision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The processed data is </a:t>
            </a:r>
            <a:r>
              <a:rPr lang="en-IN" sz="1200" dirty="0" err="1"/>
              <a:t>analyzed</a:t>
            </a:r>
            <a:r>
              <a:rPr lang="en-IN" sz="1200" dirty="0"/>
              <a:t> by an intelligent computational model.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Based on the analysis, the system identifies relevant events and generates an appropriate decision.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43B3E7-F18B-74C2-CE24-BEC7CB365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89" y="1078992"/>
            <a:ext cx="5033391" cy="3355594"/>
          </a:xfrm>
          <a:prstGeom prst="rect">
            <a:avLst/>
          </a:prstGeom>
        </p:spPr>
      </p:pic>
      <p:sp>
        <p:nvSpPr>
          <p:cNvPr id="7" name="Rounded Rectangle 96">
            <a:extLst>
              <a:ext uri="{FF2B5EF4-FFF2-40B4-BE49-F238E27FC236}">
                <a16:creationId xmlns:a16="http://schemas.microsoft.com/office/drawing/2014/main" id="{B584E553-4104-0E0C-4AAC-86F836F4963B}"/>
              </a:ext>
            </a:extLst>
          </p:cNvPr>
          <p:cNvSpPr/>
          <p:nvPr/>
        </p:nvSpPr>
        <p:spPr>
          <a:xfrm>
            <a:off x="5252723" y="4006954"/>
            <a:ext cx="3849750" cy="1136546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026803-FC8D-1542-2C25-34AE42201AD2}"/>
              </a:ext>
            </a:extLst>
          </p:cNvPr>
          <p:cNvSpPr txBox="1"/>
          <p:nvPr/>
        </p:nvSpPr>
        <p:spPr>
          <a:xfrm>
            <a:off x="5295899" y="4002729"/>
            <a:ext cx="3720209" cy="11633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en-IN" sz="1200" b="1" dirty="0"/>
              <a:t>4. Communication &amp; Response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The decision is communicated to the user or concerned personnel through the available interface.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/>
              <a:t>The system can store relevant information and generate alerts or responses when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dirty="0">
                <a:solidFill>
                  <a:schemeClr val="tx1"/>
                </a:solidFill>
                <a:latin typeface="Cambria"/>
              </a:rPr>
              <a:t>Research Methodology / Experimental Design  (2/3)</a:t>
            </a:r>
            <a:endParaRPr b="1" dirty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9822B"/>
                </a:solidFill>
                <a:latin typeface="Cambria"/>
              </a:rPr>
              <a:t>FallGuardNet architecture and knowledge-distillation training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480" y="4681727"/>
            <a:ext cx="2472802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1">
                <a:solidFill>
                  <a:srgbClr val="5A5F73"/>
                </a:solidFill>
                <a:latin typeface="Cambria"/>
              </a:rPr>
              <a:t>FIG. 5 – FallGuardNet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112882" y="1143000"/>
            <a:ext cx="5619637" cy="182880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204322" y="1207008"/>
            <a:ext cx="5436757" cy="160967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 dirty="0">
                <a:solidFill>
                  <a:schemeClr val="tx1"/>
                </a:solidFill>
                <a:latin typeface="Cambria"/>
              </a:rPr>
              <a:t>Multi-resolution temporal network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150" b="0" i="0" dirty="0">
                <a:solidFill>
                  <a:srgbClr val="26262B"/>
                </a:solidFill>
                <a:latin typeface="Cambria"/>
              </a:rPr>
              <a:t>Three parallel dilated </a:t>
            </a:r>
            <a:r>
              <a:rPr sz="1150" b="0" i="0" dirty="0" err="1">
                <a:solidFill>
                  <a:srgbClr val="26262B"/>
                </a:solidFill>
                <a:latin typeface="Cambria"/>
              </a:rPr>
              <a:t>depthwise</a:t>
            </a:r>
            <a:r>
              <a:rPr sz="1150" b="0" i="0" dirty="0">
                <a:solidFill>
                  <a:srgbClr val="26262B"/>
                </a:solidFill>
                <a:latin typeface="Cambria"/>
              </a:rPr>
              <a:t>-separable 1-D conv branches: </a:t>
            </a:r>
            <a:r>
              <a:rPr sz="1150" b="1" i="0" dirty="0">
                <a:solidFill>
                  <a:srgbClr val="26262B"/>
                </a:solidFill>
                <a:latin typeface="Cambria"/>
              </a:rPr>
              <a:t>fine (k=3)</a:t>
            </a:r>
            <a:r>
              <a:rPr sz="1150" b="0" i="0" dirty="0">
                <a:solidFill>
                  <a:srgbClr val="26262B"/>
                </a:solidFill>
                <a:latin typeface="Cambria"/>
              </a:rPr>
              <a:t>, </a:t>
            </a:r>
            <a:r>
              <a:rPr sz="1150" b="1" i="0" dirty="0">
                <a:solidFill>
                  <a:srgbClr val="26262B"/>
                </a:solidFill>
                <a:latin typeface="Cambria"/>
              </a:rPr>
              <a:t>medium (k=7)</a:t>
            </a:r>
            <a:r>
              <a:rPr sz="1150" b="0" i="0" dirty="0">
                <a:solidFill>
                  <a:srgbClr val="26262B"/>
                </a:solidFill>
                <a:latin typeface="Cambria"/>
              </a:rPr>
              <a:t>, </a:t>
            </a:r>
            <a:r>
              <a:rPr sz="1150" b="1" i="0" dirty="0">
                <a:solidFill>
                  <a:srgbClr val="26262B"/>
                </a:solidFill>
                <a:latin typeface="Cambria"/>
              </a:rPr>
              <a:t>coarse (k=15)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150" b="0" i="0" dirty="0">
                <a:solidFill>
                  <a:srgbClr val="26262B"/>
                </a:solidFill>
                <a:latin typeface="Cambria"/>
              </a:rPr>
              <a:t>Fusion layer → squeeze-and-excitation channel attention → temporal attention + max pooling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150" b="1" i="0" dirty="0">
                <a:solidFill>
                  <a:srgbClr val="26262B"/>
                </a:solidFill>
                <a:latin typeface="Cambria"/>
              </a:rPr>
              <a:t>Periodicity score</a:t>
            </a:r>
            <a:r>
              <a:rPr sz="1150" b="0" i="0" dirty="0">
                <a:solidFill>
                  <a:srgbClr val="26262B"/>
                </a:solidFill>
                <a:latin typeface="Cambria"/>
              </a:rPr>
              <a:t> (high for walking/running) and </a:t>
            </a:r>
            <a:r>
              <a:rPr sz="1150" b="1" i="0" dirty="0">
                <a:solidFill>
                  <a:srgbClr val="26262B"/>
                </a:solidFill>
                <a:latin typeface="Cambria"/>
              </a:rPr>
              <a:t>stillness score</a:t>
            </a:r>
            <a:r>
              <a:rPr sz="1150" b="0" i="0" dirty="0">
                <a:solidFill>
                  <a:srgbClr val="26262B"/>
                </a:solidFill>
                <a:latin typeface="Cambria"/>
              </a:rPr>
              <a:t> (calm after an abrupt event)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150" b="0" i="0" dirty="0">
                <a:solidFill>
                  <a:srgbClr val="26262B"/>
                </a:solidFill>
                <a:latin typeface="Cambria"/>
              </a:rPr>
              <a:t>21,571 trainable parameters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112882" y="3063240"/>
            <a:ext cx="5619637" cy="173736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204322" y="3127248"/>
            <a:ext cx="5436757" cy="12557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 dirty="0">
                <a:solidFill>
                  <a:schemeClr val="tx1"/>
                </a:solidFill>
                <a:latin typeface="Cambria"/>
              </a:rPr>
              <a:t>Training by knowledge distillation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150" b="0" i="0" dirty="0">
                <a:solidFill>
                  <a:srgbClr val="26262B"/>
                </a:solidFill>
                <a:latin typeface="Cambria"/>
              </a:rPr>
              <a:t>Teacher: 18-layer residual CNN (~11 M parameters), then frozen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150" b="0" i="0" dirty="0">
                <a:solidFill>
                  <a:srgbClr val="26262B"/>
                </a:solidFill>
                <a:latin typeface="Cambria"/>
              </a:rPr>
              <a:t>Loss = α · KL(T=4) + (1–α) · class-weighted cross-entropy, α = 0.7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150" b="0" i="0" dirty="0">
                <a:solidFill>
                  <a:srgbClr val="26262B"/>
                </a:solidFill>
                <a:latin typeface="Cambria"/>
              </a:rPr>
              <a:t>Seven activities (arm wave, fall, jump, run, squat, turn, walk) → binary label; augmentation by time reversal / shift, scaling, noise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150" b="0" i="0" dirty="0">
                <a:solidFill>
                  <a:srgbClr val="26262B"/>
                </a:solidFill>
                <a:latin typeface="Cambria"/>
              </a:rPr>
              <a:t>Student exported to ONNX for the edge unit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BA0E65-1B1E-E155-E61D-2C0F27B90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8992"/>
            <a:ext cx="2682835" cy="36027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dirty="0">
                <a:solidFill>
                  <a:schemeClr val="tx1"/>
                </a:solidFill>
                <a:latin typeface="Cambria"/>
              </a:rPr>
              <a:t>Research Methodology / Experimental Design  (3/3)</a:t>
            </a:r>
            <a:endParaRPr b="1" dirty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9822B"/>
                </a:solidFill>
                <a:latin typeface="Cambria"/>
              </a:rPr>
              <a:t>Agentic conversational layer and safety-controlled escalation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480" y="4745736"/>
            <a:ext cx="2591903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1">
                <a:solidFill>
                  <a:srgbClr val="5A5F73"/>
                </a:solidFill>
                <a:latin typeface="Cambria"/>
              </a:rPr>
              <a:t>FIG. 8 – Incident workflow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231983" y="1143000"/>
            <a:ext cx="5500536" cy="123444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3323423" y="1207008"/>
            <a:ext cx="5317656" cy="10274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 dirty="0">
                <a:solidFill>
                  <a:schemeClr val="tx1"/>
                </a:solidFill>
                <a:latin typeface="Cambria"/>
              </a:rPr>
              <a:t>Voice loop (all can run locally)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150" b="0" i="0" dirty="0">
                <a:solidFill>
                  <a:srgbClr val="26262B"/>
                </a:solidFill>
                <a:latin typeface="Cambria"/>
              </a:rPr>
              <a:t>Speak prompt (TTS) → detect speech (VAD) → transcribe (STT) → interpret intent (LLM)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150" b="0" i="0" dirty="0">
                <a:solidFill>
                  <a:srgbClr val="26262B"/>
                </a:solidFill>
                <a:latin typeface="Cambria"/>
              </a:rPr>
              <a:t>State machine tracks the incident; incident store keeps language, contacts, history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231983" y="2468880"/>
            <a:ext cx="5500536" cy="14173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323423" y="2532888"/>
            <a:ext cx="5317656" cy="107875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 dirty="0">
                <a:solidFill>
                  <a:schemeClr val="tx1"/>
                </a:solidFill>
                <a:latin typeface="Cambria"/>
              </a:rPr>
              <a:t>Safety-policy controller → 4 outcomes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150" b="1" i="0" dirty="0">
                <a:solidFill>
                  <a:srgbClr val="26262B"/>
                </a:solidFill>
                <a:latin typeface="Cambria"/>
              </a:rPr>
              <a:t>Clearly okay</a:t>
            </a:r>
            <a:r>
              <a:rPr sz="1150" b="0" i="0" dirty="0">
                <a:solidFill>
                  <a:srgbClr val="26262B"/>
                </a:solidFill>
                <a:latin typeface="Cambria"/>
              </a:rPr>
              <a:t> → confirmation policy, resolve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150" b="1" i="0" dirty="0">
                <a:solidFill>
                  <a:srgbClr val="26262B"/>
                </a:solidFill>
                <a:latin typeface="Cambria"/>
              </a:rPr>
              <a:t>Unclear</a:t>
            </a:r>
            <a:r>
              <a:rPr sz="1150" b="0" i="0" dirty="0">
                <a:solidFill>
                  <a:srgbClr val="26262B"/>
                </a:solidFill>
                <a:latin typeface="Cambria"/>
              </a:rPr>
              <a:t> → clarifying question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150" b="1" i="0" dirty="0">
                <a:solidFill>
                  <a:srgbClr val="26262B"/>
                </a:solidFill>
                <a:latin typeface="Cambria"/>
              </a:rPr>
              <a:t>No response</a:t>
            </a:r>
            <a:r>
              <a:rPr sz="1150" b="0" i="0" dirty="0">
                <a:solidFill>
                  <a:srgbClr val="26262B"/>
                </a:solidFill>
                <a:latin typeface="Cambria"/>
              </a:rPr>
              <a:t> → timeout, then escalate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150" b="1" i="0" dirty="0">
                <a:solidFill>
                  <a:srgbClr val="26262B"/>
                </a:solidFill>
                <a:latin typeface="Cambria"/>
              </a:rPr>
              <a:t>Needs help / pain</a:t>
            </a:r>
            <a:r>
              <a:rPr sz="1150" b="0" i="0" dirty="0">
                <a:solidFill>
                  <a:srgbClr val="26262B"/>
                </a:solidFill>
                <a:latin typeface="Cambria"/>
              </a:rPr>
              <a:t> → escalate directly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231983" y="3977639"/>
            <a:ext cx="5500536" cy="82296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3323423" y="4041648"/>
            <a:ext cx="5317656" cy="64787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 dirty="0">
                <a:solidFill>
                  <a:schemeClr val="tx1"/>
                </a:solidFill>
                <a:latin typeface="Cambria"/>
              </a:rPr>
              <a:t>Escalation module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150" b="0" i="0" dirty="0">
                <a:solidFill>
                  <a:srgbClr val="26262B"/>
                </a:solidFill>
                <a:latin typeface="Cambria"/>
              </a:rPr>
              <a:t>Notifies caregiver with time, summary, fall probability; tracks delivery and acknowledgement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C34EDB-3E13-D52D-7A31-870E5E316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03" y="1109979"/>
            <a:ext cx="2748280" cy="36906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>
            <a:spLocks noGrp="1"/>
          </p:cNvSpPr>
          <p:nvPr>
            <p:ph type="title"/>
          </p:nvPr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dirty="0">
                <a:solidFill>
                  <a:schemeClr val="tx1"/>
                </a:solidFill>
                <a:latin typeface="Cambria"/>
              </a:rPr>
              <a:t>Modern Tool Usage</a:t>
            </a:r>
            <a:endParaRPr sz="2200" b="1" dirty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97" name="Table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202347"/>
              </p:ext>
            </p:extLst>
          </p:nvPr>
        </p:nvGraphicFramePr>
        <p:xfrm>
          <a:off x="411480" y="896112"/>
          <a:ext cx="8321038" cy="33192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03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7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9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Cambria"/>
                        </a:rPr>
                        <a:t>Layer</a:t>
                      </a:r>
                    </a:p>
                  </a:txBody>
                  <a:tcPr marL="64008" marR="64008" marT="32004" marB="32004" anchor="ctr">
                    <a:solidFill>
                      <a:schemeClr val="accent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Cambria"/>
                        </a:rPr>
                        <a:t>Tool / technology</a:t>
                      </a:r>
                    </a:p>
                  </a:txBody>
                  <a:tcPr marL="64008" marR="64008" marT="32004" marB="32004" anchor="ctr">
                    <a:solidFill>
                      <a:schemeClr val="accent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Cambria"/>
                        </a:rPr>
                        <a:t>Purpose</a:t>
                      </a:r>
                    </a:p>
                  </a:txBody>
                  <a:tcPr marL="64008" marR="64008" marT="32004" marB="32004" anchor="ctr">
                    <a:solidFill>
                      <a:schemeClr val="accent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Cambria"/>
                        </a:rPr>
                        <a:t>Sensing node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6262B"/>
                          </a:solidFill>
                          <a:latin typeface="Cambria"/>
                        </a:rPr>
                        <a:t>ESP32 + Wi-Fi CSI callback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6262B"/>
                          </a:solidFill>
                          <a:latin typeface="Cambria"/>
                        </a:rPr>
                        <a:t>Low-cost, single-antenna CSI capture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Cambria"/>
                        </a:rPr>
                        <a:t>Edge unit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6262B"/>
                          </a:solidFill>
                          <a:latin typeface="Cambria"/>
                        </a:rPr>
                        <a:t>Raspberry Pi 5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6262B"/>
                          </a:solidFill>
                          <a:latin typeface="Cambria"/>
                        </a:rPr>
                        <a:t>Runs inference, decision and conversational layer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Cambria"/>
                        </a:rPr>
                        <a:t>Inference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6262B"/>
                          </a:solidFill>
                          <a:latin typeface="Cambria"/>
                        </a:rPr>
                        <a:t>FallGuardNet via ONNX runtime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6262B"/>
                          </a:solidFill>
                          <a:latin typeface="Cambria"/>
                        </a:rPr>
                        <a:t>Real-time fall / non-fall classification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Cambria"/>
                        </a:rPr>
                        <a:t>Event interface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 err="1">
                          <a:solidFill>
                            <a:srgbClr val="26262B"/>
                          </a:solidFill>
                          <a:latin typeface="Cambria"/>
                        </a:rPr>
                        <a:t>FastAPI</a:t>
                      </a:r>
                      <a:r>
                        <a:rPr sz="1000" b="0" i="0" dirty="0">
                          <a:solidFill>
                            <a:srgbClr val="26262B"/>
                          </a:solidFill>
                          <a:latin typeface="Cambria"/>
                        </a:rPr>
                        <a:t> (alt.: MQTT, serial)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6262B"/>
                          </a:solidFill>
                          <a:latin typeface="Cambria"/>
                        </a:rPr>
                        <a:t>Passes the fall event to the conversational layer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Cambria"/>
                        </a:rPr>
                        <a:t>Voice detection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6262B"/>
                          </a:solidFill>
                          <a:latin typeface="Cambria"/>
                        </a:rPr>
                        <a:t>Silero VAD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6262B"/>
                          </a:solidFill>
                          <a:latin typeface="Cambria"/>
                        </a:rPr>
                        <a:t>Finds speech segments; skips silence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Cambria"/>
                        </a:rPr>
                        <a:t>Speech-to-text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6262B"/>
                          </a:solidFill>
                          <a:latin typeface="Cambria"/>
                        </a:rPr>
                        <a:t>faster-whisper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6262B"/>
                          </a:solidFill>
                          <a:latin typeface="Cambria"/>
                        </a:rPr>
                        <a:t>Transcribes the reply in the person’s language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Cambria"/>
                        </a:rPr>
                        <a:t>Interpretation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6262B"/>
                          </a:solidFill>
                          <a:latin typeface="Cambria"/>
                        </a:rPr>
                        <a:t>Qwen2.5-1.5B-Instruct via Ollama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6262B"/>
                          </a:solidFill>
                          <a:latin typeface="Cambria"/>
                        </a:rPr>
                        <a:t>Maps varied replies to a recognised intent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Cambria"/>
                        </a:rPr>
                        <a:t>Control logic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6262B"/>
                          </a:solidFill>
                          <a:latin typeface="Cambria"/>
                        </a:rPr>
                        <a:t>Python state machine (LangGraph optional)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6262B"/>
                          </a:solidFill>
                          <a:latin typeface="Cambria"/>
                        </a:rPr>
                        <a:t>Conversation state and rule-based safety policy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Cambria"/>
                        </a:rPr>
                        <a:t>Speech synthesis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6262B"/>
                          </a:solidFill>
                          <a:latin typeface="Cambria"/>
                        </a:rPr>
                        <a:t>Piper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6262B"/>
                          </a:solidFill>
                          <a:latin typeface="Cambria"/>
                        </a:rPr>
                        <a:t>Spoken prompts in the preferred language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1" i="0" dirty="0">
                          <a:solidFill>
                            <a:schemeClr val="tx1"/>
                          </a:solidFill>
                          <a:latin typeface="Cambria"/>
                        </a:rPr>
                        <a:t>Storage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26262B"/>
                          </a:solidFill>
                          <a:latin typeface="Cambria"/>
                        </a:rPr>
                        <a:t>SQLite / MongoDB; cloud database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00" b="0" i="0" dirty="0">
                          <a:solidFill>
                            <a:srgbClr val="26262B"/>
                          </a:solidFill>
                          <a:latin typeface="Cambria"/>
                        </a:rPr>
                        <a:t>Incident store, profiles, schedules; sensor heartbeat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8" name="Rounded Rectangle 97"/>
          <p:cNvSpPr/>
          <p:nvPr/>
        </p:nvSpPr>
        <p:spPr>
          <a:xfrm>
            <a:off x="411480" y="4361688"/>
            <a:ext cx="8321040" cy="457200"/>
          </a:xfrm>
          <a:prstGeom prst="roundRect">
            <a:avLst>
              <a:gd name="adj" fmla="val 6000"/>
            </a:avLst>
          </a:prstGeom>
          <a:solidFill>
            <a:srgbClr val="FB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48640" y="4361688"/>
            <a:ext cx="804672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26262B"/>
                </a:solidFill>
                <a:latin typeface="Cambria"/>
              </a:rPr>
              <a:t>Speech, language and synthesis models run on the edge unit — audio and transcripts need not leave the home; the voice loop works offline.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"/>
          <p:cNvSpPr txBox="1">
            <a:spLocks noGrp="1"/>
          </p:cNvSpPr>
          <p:nvPr>
            <p:ph type="title"/>
          </p:nvPr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dirty="0">
                <a:solidFill>
                  <a:schemeClr val="tx1"/>
                </a:solidFill>
                <a:latin typeface="Cambria"/>
              </a:rPr>
              <a:t>Result Analysis &amp; Validation</a:t>
            </a:r>
            <a:endParaRPr b="1" dirty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11480" y="822960"/>
            <a:ext cx="3383280" cy="22467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 dirty="0">
                <a:solidFill>
                  <a:schemeClr val="tx1"/>
                </a:solidFill>
                <a:latin typeface="Cambria"/>
              </a:rPr>
              <a:t>Held-out test split: 60 non-fall + 10 fall recordings</a:t>
            </a:r>
          </a:p>
        </p:txBody>
      </p:sp>
      <p:graphicFrame>
        <p:nvGraphicFramePr>
          <p:cNvPr id="104" name="Table 103"/>
          <p:cNvGraphicFramePr>
            <a:graphicFrameLocks noGrp="1"/>
          </p:cNvGraphicFramePr>
          <p:nvPr/>
        </p:nvGraphicFramePr>
        <p:xfrm>
          <a:off x="411480" y="1188720"/>
          <a:ext cx="3383278" cy="104241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566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6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/>
                    </a:p>
                  </a:txBody>
                  <a:tcPr marL="64008" marR="64008" marT="32004" marB="32004" anchor="ctr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 dirty="0">
                          <a:solidFill>
                            <a:srgbClr val="FFFFFF"/>
                          </a:solidFill>
                          <a:latin typeface="Cambria"/>
                        </a:rPr>
                        <a:t>Pred. non-fall</a:t>
                      </a:r>
                    </a:p>
                  </a:txBody>
                  <a:tcPr marL="64008" marR="64008" marT="32004" marB="32004" anchor="ctr"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Cambria"/>
                        </a:rPr>
                        <a:t>Pred. fall</a:t>
                      </a:r>
                    </a:p>
                  </a:txBody>
                  <a:tcPr marL="64008" marR="64008" marT="32004" marB="32004" anchor="ctr">
                    <a:solidFill>
                      <a:srgbClr val="1F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2A6B"/>
                          </a:solidFill>
                          <a:latin typeface="Cambria"/>
                        </a:rPr>
                        <a:t>Actual non-fall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2E7D5B"/>
                          </a:solidFill>
                          <a:latin typeface="Cambria"/>
                        </a:rPr>
                        <a:t>60</a:t>
                      </a:r>
                    </a:p>
                  </a:txBody>
                  <a:tcPr marL="64008" marR="64008" marT="32004" marB="32004" anchor="ctr">
                    <a:solidFill>
                      <a:srgbClr val="DDEF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26262B"/>
                          </a:solidFill>
                          <a:latin typeface="Cambria"/>
                        </a:rPr>
                        <a:t>0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1F2A6B"/>
                          </a:solidFill>
                          <a:latin typeface="Cambria"/>
                        </a:rPr>
                        <a:t>Actual fall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 i="0" dirty="0">
                          <a:solidFill>
                            <a:srgbClr val="26262B"/>
                          </a:solidFill>
                          <a:latin typeface="Cambria"/>
                        </a:rPr>
                        <a:t>2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400" b="1" i="0" dirty="0">
                          <a:solidFill>
                            <a:srgbClr val="2E7D5B"/>
                          </a:solidFill>
                          <a:latin typeface="Cambria"/>
                        </a:rPr>
                        <a:t>8</a:t>
                      </a:r>
                    </a:p>
                  </a:txBody>
                  <a:tcPr marL="64008" marR="64008" marT="32004" marB="32004" anchor="ctr">
                    <a:solidFill>
                      <a:srgbClr val="DDEF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5" name="Rounded Rectangle 104"/>
          <p:cNvSpPr/>
          <p:nvPr/>
        </p:nvSpPr>
        <p:spPr>
          <a:xfrm>
            <a:off x="411480" y="2423160"/>
            <a:ext cx="1005840" cy="71323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11480" y="2450591"/>
            <a:ext cx="1005840" cy="6675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 dirty="0">
                <a:solidFill>
                  <a:srgbClr val="1F2A6B"/>
                </a:solidFill>
                <a:latin typeface="Cambria"/>
              </a:rPr>
              <a:t>97.1%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0" dirty="0">
                <a:solidFill>
                  <a:srgbClr val="5A5F73"/>
                </a:solidFill>
                <a:latin typeface="Cambria"/>
              </a:rPr>
              <a:t>Accuracy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600200" y="2423160"/>
            <a:ext cx="1005840" cy="71323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600200" y="2450591"/>
            <a:ext cx="1005840" cy="6675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F2A6B"/>
                </a:solidFill>
                <a:latin typeface="Cambria"/>
              </a:rPr>
              <a:t>100%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A5F73"/>
                </a:solidFill>
                <a:latin typeface="Cambria"/>
              </a:rPr>
              <a:t>Precision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788920" y="2423160"/>
            <a:ext cx="1005840" cy="71323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788920" y="2450591"/>
            <a:ext cx="1005840" cy="6675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F2A6B"/>
                </a:solidFill>
                <a:latin typeface="Cambria"/>
              </a:rPr>
              <a:t>80%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A5F73"/>
                </a:solidFill>
                <a:latin typeface="Cambria"/>
              </a:rPr>
              <a:t>Recall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11480" y="3273552"/>
            <a:ext cx="1005840" cy="71323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11480" y="3300984"/>
            <a:ext cx="1005840" cy="6675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F2A6B"/>
                </a:solidFill>
                <a:latin typeface="Cambria"/>
              </a:rPr>
              <a:t>100%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A5F73"/>
                </a:solidFill>
                <a:latin typeface="Cambria"/>
              </a:rPr>
              <a:t>Specificity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600200" y="3273552"/>
            <a:ext cx="1005840" cy="713232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1600200" y="3300984"/>
            <a:ext cx="1005840" cy="66751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F2A6B"/>
                </a:solidFill>
                <a:latin typeface="Cambria"/>
              </a:rPr>
              <a:t>0.889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A5F73"/>
                </a:solidFill>
                <a:latin typeface="Cambria"/>
              </a:rPr>
              <a:t>F1 score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788920" y="3273552"/>
            <a:ext cx="1005840" cy="713232"/>
          </a:xfrm>
          <a:prstGeom prst="roundRect">
            <a:avLst>
              <a:gd name="adj" fmla="val 6000"/>
            </a:avLst>
          </a:prstGeom>
          <a:solidFill>
            <a:srgbClr val="FB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788920" y="3273552"/>
            <a:ext cx="1005840" cy="71323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D9822B"/>
                </a:solidFill>
                <a:latin typeface="Cambria"/>
              </a:rPr>
              <a:t>Preliminary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50" b="0" i="0">
                <a:solidFill>
                  <a:srgbClr val="5A5F73"/>
                </a:solidFill>
                <a:latin typeface="Cambria"/>
              </a:rPr>
              <a:t>small test set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11480" y="4251960"/>
            <a:ext cx="33832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1">
                <a:solidFill>
                  <a:srgbClr val="5A5F73"/>
                </a:solidFill>
                <a:latin typeface="Cambria"/>
              </a:rPr>
              <a:t>No false alarms; 2 of 10 falls missed. Larger ESP32-captured test data is needed to confirm recall.</a:t>
            </a:r>
          </a:p>
        </p:txBody>
      </p:sp>
      <p:graphicFrame>
        <p:nvGraphicFramePr>
          <p:cNvPr id="118" name="Chart 1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34992"/>
              </p:ext>
            </p:extLst>
          </p:nvPr>
        </p:nvGraphicFramePr>
        <p:xfrm>
          <a:off x="3977639" y="822960"/>
          <a:ext cx="47548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>
            <a:spLocks noGrp="1"/>
          </p:cNvSpPr>
          <p:nvPr>
            <p:ph type="title"/>
          </p:nvPr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F2A6B"/>
                </a:solidFill>
                <a:latin typeface="Cambria"/>
              </a:rPr>
              <a:t>Quality of Figures, Tables, etc.</a:t>
            </a:r>
            <a:endParaRPr sz="2200" b="1">
              <a:solidFill>
                <a:schemeClr val="accent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374904" y="914400"/>
            <a:ext cx="2163524" cy="2313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1" name="Picture 110" descr="f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50976"/>
            <a:ext cx="2090372" cy="224028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320040" y="3282696"/>
            <a:ext cx="2273252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1">
                <a:solidFill>
                  <a:srgbClr val="5A5F73"/>
                </a:solidFill>
                <a:latin typeface="Cambria"/>
              </a:rPr>
              <a:t>FIG. 2 – Example room deployment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910908" y="914400"/>
            <a:ext cx="1616305" cy="2313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4" name="Picture 113" descr="f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7484" y="950976"/>
            <a:ext cx="1543153" cy="224028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2856044" y="3282696"/>
            <a:ext cx="1726033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1">
                <a:solidFill>
                  <a:srgbClr val="5A5F73"/>
                </a:solidFill>
                <a:latin typeface="Cambria"/>
              </a:rPr>
              <a:t>FIG. 3 – CSI acquisition flow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899694" y="914400"/>
            <a:ext cx="1853160" cy="2313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7" name="Picture 116" descr="f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6270" y="950976"/>
            <a:ext cx="1780008" cy="2240280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4844830" y="3282696"/>
            <a:ext cx="1962888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1">
                <a:solidFill>
                  <a:srgbClr val="5A5F73"/>
                </a:solidFill>
                <a:latin typeface="Cambria"/>
              </a:rPr>
              <a:t>FIG. 4 – Window processing &amp; state decision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125334" y="914400"/>
            <a:ext cx="1643761" cy="2313432"/>
          </a:xfrm>
          <a:prstGeom prst="rect">
            <a:avLst/>
          </a:prstGeom>
          <a:solidFill>
            <a:srgbClr val="FFFFFF"/>
          </a:solidFill>
          <a:ln w="9525">
            <a:solidFill>
              <a:srgbClr val="C9C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0" name="Picture 119" descr="f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1910" y="950976"/>
            <a:ext cx="1570609" cy="2240280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7070470" y="3282696"/>
            <a:ext cx="1753489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1">
                <a:solidFill>
                  <a:srgbClr val="5A5F73"/>
                </a:solidFill>
                <a:latin typeface="Cambria"/>
              </a:rPr>
              <a:t>FIG. 6 – Distillation training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11480" y="3840480"/>
            <a:ext cx="1965960" cy="9601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411480" y="3858768"/>
            <a:ext cx="196596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F2A6B"/>
                </a:solidFill>
                <a:latin typeface="Cambria"/>
              </a:rPr>
              <a:t>9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A5F73"/>
                </a:solidFill>
                <a:latin typeface="Cambria"/>
              </a:rPr>
              <a:t>numbered drawings (FIG. 1–9)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530144" y="3840480"/>
            <a:ext cx="1965960" cy="9601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2530144" y="3858768"/>
            <a:ext cx="196596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F2A6B"/>
                </a:solidFill>
                <a:latin typeface="Cambria"/>
              </a:rPr>
              <a:t>2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A5F73"/>
                </a:solidFill>
                <a:latin typeface="Cambria"/>
              </a:rPr>
              <a:t>tables: tools, model comparison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648809" y="3840480"/>
            <a:ext cx="1965960" cy="9601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4648809" y="3858768"/>
            <a:ext cx="196596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F2A6B"/>
                </a:solidFill>
                <a:latin typeface="Cambria"/>
              </a:rPr>
              <a:t>100–710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A5F73"/>
                </a:solidFill>
                <a:latin typeface="Cambria"/>
              </a:rPr>
              <a:t>reference numerals across figures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767474" y="3840480"/>
            <a:ext cx="1965960" cy="9601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767474" y="3858768"/>
            <a:ext cx="196596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F2A6B"/>
                </a:solidFill>
                <a:latin typeface="Cambria"/>
              </a:rPr>
              <a:t>S301–S818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A5F73"/>
                </a:solidFill>
                <a:latin typeface="Cambria"/>
              </a:rPr>
              <a:t>step labels in flow charts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>
            <a:spLocks noGrp="1"/>
          </p:cNvSpPr>
          <p:nvPr>
            <p:ph type="title"/>
          </p:nvPr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dirty="0">
                <a:solidFill>
                  <a:schemeClr val="tx1"/>
                </a:solidFill>
                <a:latin typeface="Cambria"/>
              </a:rPr>
              <a:t>Manuscript Organization &amp; Technical Writing</a:t>
            </a:r>
            <a:endParaRPr sz="2200" b="1" dirty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>
                <a:solidFill>
                  <a:srgbClr val="D9822B"/>
                </a:solidFill>
                <a:latin typeface="Cambria"/>
              </a:rPr>
              <a:t>Provisional Specification — Form 2, The Patents Act 1970 and Patents Rules 2003</a:t>
            </a:r>
          </a:p>
        </p:txBody>
      </p:sp>
      <p:sp>
        <p:nvSpPr>
          <p:cNvPr id="116" name="Pentagon 115"/>
          <p:cNvSpPr/>
          <p:nvPr/>
        </p:nvSpPr>
        <p:spPr>
          <a:xfrm>
            <a:off x="411480" y="1188720"/>
            <a:ext cx="1984248" cy="777240"/>
          </a:xfrm>
          <a:prstGeom prst="homePlate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502920" y="142189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F2A6B"/>
                </a:solidFill>
                <a:latin typeface="Cambria"/>
              </a:rP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68680" y="1188720"/>
            <a:ext cx="1298448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mbria"/>
              </a:rPr>
              <a:t>Title &amp; applicants</a:t>
            </a:r>
          </a:p>
        </p:txBody>
      </p:sp>
      <p:sp>
        <p:nvSpPr>
          <p:cNvPr id="119" name="Pentagon 118"/>
          <p:cNvSpPr/>
          <p:nvPr/>
        </p:nvSpPr>
        <p:spPr>
          <a:xfrm>
            <a:off x="2523744" y="1188720"/>
            <a:ext cx="1984248" cy="777240"/>
          </a:xfrm>
          <a:prstGeom prst="homePlate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2615184" y="142189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F2A6B"/>
                </a:solidFill>
                <a:latin typeface="Cambria"/>
              </a:rPr>
              <a:t>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980944" y="1188720"/>
            <a:ext cx="1298448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mbria"/>
              </a:rPr>
              <a:t>Field of the invention</a:t>
            </a:r>
          </a:p>
        </p:txBody>
      </p:sp>
      <p:sp>
        <p:nvSpPr>
          <p:cNvPr id="122" name="Pentagon 121"/>
          <p:cNvSpPr/>
          <p:nvPr/>
        </p:nvSpPr>
        <p:spPr>
          <a:xfrm>
            <a:off x="4636008" y="1188720"/>
            <a:ext cx="1984248" cy="777240"/>
          </a:xfrm>
          <a:prstGeom prst="homePlate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4727448" y="142189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F2A6B"/>
                </a:solidFill>
                <a:latin typeface="Cambria"/>
              </a:rPr>
              <a:t>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93208" y="1188720"/>
            <a:ext cx="1298448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mbria"/>
              </a:rPr>
              <a:t>Background</a:t>
            </a:r>
          </a:p>
        </p:txBody>
      </p:sp>
      <p:sp>
        <p:nvSpPr>
          <p:cNvPr id="125" name="Pentagon 124"/>
          <p:cNvSpPr/>
          <p:nvPr/>
        </p:nvSpPr>
        <p:spPr>
          <a:xfrm>
            <a:off x="6748272" y="1188720"/>
            <a:ext cx="1984248" cy="777240"/>
          </a:xfrm>
          <a:prstGeom prst="homePlate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6839712" y="142189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F2A6B"/>
                </a:solidFill>
                <a:latin typeface="Cambria"/>
              </a:rPr>
              <a:t>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205472" y="1188720"/>
            <a:ext cx="1298448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mbria"/>
              </a:rPr>
              <a:t>Objects</a:t>
            </a:r>
          </a:p>
        </p:txBody>
      </p:sp>
      <p:sp>
        <p:nvSpPr>
          <p:cNvPr id="128" name="Pentagon 127"/>
          <p:cNvSpPr/>
          <p:nvPr/>
        </p:nvSpPr>
        <p:spPr>
          <a:xfrm>
            <a:off x="411480" y="2148840"/>
            <a:ext cx="1984248" cy="777240"/>
          </a:xfrm>
          <a:prstGeom prst="homePlate">
            <a:avLst/>
          </a:prstGeom>
          <a:solidFill>
            <a:srgbClr val="D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502920" y="238201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D9822B"/>
                </a:solidFill>
                <a:latin typeface="Cambria"/>
              </a:rPr>
              <a:t>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68680" y="2148840"/>
            <a:ext cx="1298448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mbria"/>
              </a:rPr>
              <a:t>Novelty vs. prior art [1]–[4]</a:t>
            </a:r>
          </a:p>
        </p:txBody>
      </p:sp>
      <p:sp>
        <p:nvSpPr>
          <p:cNvPr id="131" name="Pentagon 130"/>
          <p:cNvSpPr/>
          <p:nvPr/>
        </p:nvSpPr>
        <p:spPr>
          <a:xfrm>
            <a:off x="2523744" y="2148840"/>
            <a:ext cx="1984248" cy="777240"/>
          </a:xfrm>
          <a:prstGeom prst="homePlate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2615184" y="238201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F2A6B"/>
                </a:solidFill>
                <a:latin typeface="Cambria"/>
              </a:rPr>
              <a:t>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980944" y="2148840"/>
            <a:ext cx="1298448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mbria"/>
              </a:rPr>
              <a:t>Detailed description (13 parts, FIG. 1–9)</a:t>
            </a:r>
          </a:p>
        </p:txBody>
      </p:sp>
      <p:sp>
        <p:nvSpPr>
          <p:cNvPr id="134" name="Pentagon 133"/>
          <p:cNvSpPr/>
          <p:nvPr/>
        </p:nvSpPr>
        <p:spPr>
          <a:xfrm>
            <a:off x="4636008" y="2148840"/>
            <a:ext cx="1984248" cy="777240"/>
          </a:xfrm>
          <a:prstGeom prst="homePlate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4727448" y="238201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F2A6B"/>
                </a:solidFill>
                <a:latin typeface="Cambria"/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093208" y="2148840"/>
            <a:ext cx="1298448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mbria"/>
              </a:rPr>
              <a:t>Further embodiments</a:t>
            </a:r>
          </a:p>
        </p:txBody>
      </p:sp>
      <p:sp>
        <p:nvSpPr>
          <p:cNvPr id="137" name="Pentagon 136"/>
          <p:cNvSpPr/>
          <p:nvPr/>
        </p:nvSpPr>
        <p:spPr>
          <a:xfrm>
            <a:off x="6748272" y="2148840"/>
            <a:ext cx="1984248" cy="777240"/>
          </a:xfrm>
          <a:prstGeom prst="homePlate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6839712" y="238201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F2A6B"/>
                </a:solidFill>
                <a:latin typeface="Cambria"/>
              </a:rPr>
              <a:t>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205472" y="2148840"/>
            <a:ext cx="1298448" cy="7772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Cambria"/>
              </a:rPr>
              <a:t>Abstract &amp; references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11480" y="3108960"/>
            <a:ext cx="4069080" cy="169164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502920" y="3172968"/>
            <a:ext cx="3886200" cy="1581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F2A6B"/>
                </a:solidFill>
                <a:latin typeface="Cambria"/>
              </a:rPr>
              <a:t>Technical-writing practices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200" b="0" i="0">
                <a:solidFill>
                  <a:srgbClr val="26262B"/>
                </a:solidFill>
                <a:latin typeface="Cambria"/>
              </a:rPr>
              <a:t>Each prior-art limitation is stated first, then how the invention overcomes it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200" b="0" i="0">
                <a:solidFill>
                  <a:srgbClr val="26262B"/>
                </a:solidFill>
                <a:latin typeface="Cambria"/>
              </a:rPr>
              <a:t>Consistent reference numerals tie text to figures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200" b="0" i="0">
                <a:solidFill>
                  <a:srgbClr val="26262B"/>
                </a:solidFill>
                <a:latin typeface="Cambria"/>
              </a:rPr>
              <a:t>Embodiments marked illustrative, not limiting; parameters given as examples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663440" y="3108960"/>
            <a:ext cx="4069080" cy="169164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4754879" y="3172968"/>
            <a:ext cx="3886200" cy="1581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>
                <a:solidFill>
                  <a:srgbClr val="1F2A6B"/>
                </a:solidFill>
                <a:latin typeface="Cambria"/>
              </a:rPr>
              <a:t>Description flow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200" b="0" i="0">
                <a:solidFill>
                  <a:srgbClr val="26262B"/>
                </a:solidFill>
                <a:latin typeface="Cambria"/>
              </a:rPr>
              <a:t>System overview → sensing node → windowing → network → training → decision → conversational layer → workflow → safety rules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200" b="0" i="0">
                <a:solidFill>
                  <a:srgbClr val="26262B"/>
                </a:solidFill>
                <a:latin typeface="Cambria"/>
              </a:rPr>
              <a:t>Ends with example tools (Table 1) and experimental results (Table 2, FIG. 9)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a2ae11077_0_0"/>
          <p:cNvSpPr txBox="1">
            <a:spLocks noGrp="1"/>
          </p:cNvSpPr>
          <p:nvPr>
            <p:ph type="title"/>
          </p:nvPr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dirty="0">
                <a:solidFill>
                  <a:schemeClr val="tx1"/>
                </a:solidFill>
                <a:latin typeface="Cambria"/>
              </a:rPr>
              <a:t>References &amp; Their Relevance</a:t>
            </a:r>
            <a:endParaRPr b="1" dirty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20" name="Table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0690678"/>
              </p:ext>
            </p:extLst>
          </p:nvPr>
        </p:nvGraphicFramePr>
        <p:xfrm>
          <a:off x="411480" y="960120"/>
          <a:ext cx="8470964" cy="309168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18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45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i="0" dirty="0">
                          <a:solidFill>
                            <a:schemeClr val="tx1"/>
                          </a:solidFill>
                          <a:latin typeface="Cambria"/>
                        </a:rPr>
                        <a:t>Ref.</a:t>
                      </a:r>
                    </a:p>
                  </a:txBody>
                  <a:tcPr marL="64008" marR="64008" marT="32004" marB="32004" anchor="ctr">
                    <a:solidFill>
                      <a:schemeClr val="accent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i="0" dirty="0">
                          <a:solidFill>
                            <a:schemeClr val="tx1"/>
                          </a:solidFill>
                          <a:latin typeface="Cambria"/>
                        </a:rPr>
                        <a:t>Category</a:t>
                      </a:r>
                    </a:p>
                  </a:txBody>
                  <a:tcPr marL="64008" marR="64008" marT="32004" marB="32004" anchor="ctr">
                    <a:solidFill>
                      <a:schemeClr val="accent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i="0" dirty="0">
                          <a:solidFill>
                            <a:schemeClr val="tx1"/>
                          </a:solidFill>
                          <a:latin typeface="Cambria"/>
                        </a:rPr>
                        <a:t>Why it matters to Sannidhi</a:t>
                      </a:r>
                    </a:p>
                  </a:txBody>
                  <a:tcPr marL="64008" marR="64008" marT="32004" marB="32004" anchor="ctr">
                    <a:solidFill>
                      <a:schemeClr val="accent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i="0" dirty="0">
                          <a:solidFill>
                            <a:schemeClr val="tx1"/>
                          </a:solidFill>
                          <a:latin typeface="Cambria"/>
                        </a:rPr>
                        <a:t>[1] Peking Univ., US 10,531,817 B2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B"/>
                          </a:solidFill>
                          <a:latin typeface="Cambria"/>
                        </a:rPr>
                        <a:t>Wi-Fi CSI, multi-antenna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B"/>
                          </a:solidFill>
                          <a:latin typeface="Cambria"/>
                        </a:rPr>
                        <a:t>Closest CSI baseline; we remove the multi-antenna / phase requirement and add interaction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i="0" dirty="0">
                          <a:solidFill>
                            <a:schemeClr val="tx1"/>
                          </a:solidFill>
                          <a:latin typeface="Cambria"/>
                        </a:rPr>
                        <a:t>[2] Tsinghua Univ., CN 112346050 B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B"/>
                          </a:solidFill>
                          <a:latin typeface="Cambria"/>
                        </a:rPr>
                        <a:t>Wi-Fi CSI, trained model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B"/>
                          </a:solidFill>
                          <a:latin typeface="Cambria"/>
                        </a:rPr>
                        <a:t>Shows CSI + learned model is known; we add edge execution and a full escalation procedure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i="0" dirty="0">
                          <a:solidFill>
                            <a:schemeClr val="tx1"/>
                          </a:solidFill>
                          <a:latin typeface="Cambria"/>
                        </a:rPr>
                        <a:t>[3] Google LLC, US 2024/0112559 A1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B"/>
                          </a:solidFill>
                          <a:latin typeface="Cambria"/>
                        </a:rPr>
                        <a:t>Radar + spoken interaction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B"/>
                          </a:solidFill>
                          <a:latin typeface="Cambria"/>
                        </a:rPr>
                        <a:t>Closest on post-fall interaction; we use commodity Wi-Fi and a rule-based controller separate from the language model</a:t>
                      </a:r>
                    </a:p>
                  </a:txBody>
                  <a:tcPr marL="64008" marR="64008" marT="32004" marB="32004" anchor="ctr"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 i="0" dirty="0">
                          <a:solidFill>
                            <a:schemeClr val="tx1"/>
                          </a:solidFill>
                          <a:latin typeface="Cambria"/>
                        </a:rPr>
                        <a:t>[4] J. Carlton-Foss, US 8,217,795 B2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6262B"/>
                          </a:solidFill>
                          <a:latin typeface="Cambria"/>
                        </a:rPr>
                        <a:t>Wearable accelerometer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0" i="0" dirty="0">
                          <a:solidFill>
                            <a:srgbClr val="26262B"/>
                          </a:solidFill>
                          <a:latin typeface="Cambria"/>
                        </a:rPr>
                        <a:t>Represents the wearable category we avoid (wear/charge burden, no interaction)</a:t>
                      </a:r>
                    </a:p>
                  </a:txBody>
                  <a:tcPr marL="64008" marR="64008" marT="32004" marB="3200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1" name="Rounded Rectangle 120"/>
          <p:cNvSpPr/>
          <p:nvPr/>
        </p:nvSpPr>
        <p:spPr>
          <a:xfrm>
            <a:off x="411480" y="4224528"/>
            <a:ext cx="8321040" cy="594360"/>
          </a:xfrm>
          <a:prstGeom prst="roundRect">
            <a:avLst>
              <a:gd name="adj" fmla="val 6000"/>
            </a:avLst>
          </a:prstGeom>
          <a:solidFill>
            <a:srgbClr val="FB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548640" y="4324731"/>
            <a:ext cx="8046720" cy="39395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 dirty="0">
                <a:solidFill>
                  <a:schemeClr val="tx1"/>
                </a:solidFill>
                <a:latin typeface="Cambria"/>
              </a:rPr>
              <a:t>Coverage: </a:t>
            </a:r>
            <a:r>
              <a:rPr sz="1100" b="0" i="0" dirty="0">
                <a:solidFill>
                  <a:schemeClr val="tx1"/>
                </a:solidFill>
                <a:latin typeface="Cambria"/>
              </a:rPr>
              <a:t>all four references are patent documents spanning the three existing approaches — Wi-Fi CSI, radar, and wearables — so the novelty argument is checked against each category.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a2ae11077_0_4"/>
          <p:cNvSpPr txBox="1">
            <a:spLocks noGrp="1"/>
          </p:cNvSpPr>
          <p:nvPr>
            <p:ph type="title"/>
          </p:nvPr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dirty="0">
                <a:solidFill>
                  <a:schemeClr val="tx1"/>
                </a:solidFill>
                <a:latin typeface="Cambria"/>
              </a:rPr>
              <a:t>SDG / Societal / Practical Relevance</a:t>
            </a:r>
            <a:endParaRPr sz="2200" b="1" dirty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5" name="Rounded Rectangle 124"/>
          <p:cNvSpPr/>
          <p:nvPr/>
        </p:nvSpPr>
        <p:spPr>
          <a:xfrm>
            <a:off x="411480" y="9601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502920" y="1508760"/>
            <a:ext cx="2468879" cy="87613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 dirty="0">
                <a:solidFill>
                  <a:schemeClr val="tx1"/>
                </a:solidFill>
                <a:latin typeface="Cambria"/>
              </a:rPr>
              <a:t>Good Health &amp; Well-being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26262B"/>
                </a:solidFill>
                <a:latin typeface="Cambria"/>
              </a:rPr>
              <a:t>Faster help after a fall for elderly people living alone; routine check-ins and medication reminders.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246120" y="9601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337560" y="1508760"/>
            <a:ext cx="2468879" cy="126085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 dirty="0">
                <a:solidFill>
                  <a:schemeClr val="tx1"/>
                </a:solidFill>
                <a:latin typeface="Cambria"/>
              </a:rPr>
              <a:t>Industry, Innovation &amp; Infrastructure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26262B"/>
                </a:solidFill>
                <a:latin typeface="Cambria"/>
              </a:rPr>
              <a:t>Low-cost commodity hardware (ESP32, Raspberry Pi 5) and compact edge AI instead of dedicated radar.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080760" y="960120"/>
            <a:ext cx="2651760" cy="201168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6172200" y="1508760"/>
            <a:ext cx="2468879" cy="106849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 i="0" dirty="0">
                <a:solidFill>
                  <a:schemeClr val="tx1"/>
                </a:solidFill>
                <a:latin typeface="Cambria"/>
              </a:rPr>
              <a:t>Reduced Inequalities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 dirty="0">
                <a:solidFill>
                  <a:srgbClr val="26262B"/>
                </a:solidFill>
                <a:latin typeface="Cambria"/>
              </a:rPr>
              <a:t>Contactless — nothing to wear or charge; spoken interaction in regional languages, not only English.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11480" y="3108960"/>
            <a:ext cx="8321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9822B"/>
                </a:solidFill>
                <a:latin typeface="Cambria"/>
              </a:rPr>
              <a:t>Practical relevance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411480" y="34290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B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502920" y="3493008"/>
            <a:ext cx="1783080" cy="8479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 dirty="0">
                <a:solidFill>
                  <a:schemeClr val="tx1"/>
                </a:solidFill>
                <a:latin typeface="Cambria"/>
              </a:rPr>
              <a:t>No camera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 dirty="0">
                <a:solidFill>
                  <a:srgbClr val="26262B"/>
                </a:solidFill>
                <a:latin typeface="Cambria"/>
              </a:rPr>
              <a:t>Privacy-preserving; usable in bedrooms and bathrooms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2530144" y="34290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B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2621584" y="3493008"/>
            <a:ext cx="1783080" cy="8479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 dirty="0">
                <a:solidFill>
                  <a:schemeClr val="tx1"/>
                </a:solidFill>
                <a:latin typeface="Cambria"/>
              </a:rPr>
              <a:t>Local processing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 dirty="0">
                <a:solidFill>
                  <a:srgbClr val="26262B"/>
                </a:solidFill>
                <a:latin typeface="Cambria"/>
              </a:rPr>
              <a:t>Audio and transcripts can stay on the device; works offline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648809" y="34290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B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4740249" y="3493008"/>
            <a:ext cx="1783080" cy="8479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 dirty="0">
                <a:solidFill>
                  <a:schemeClr val="tx1"/>
                </a:solidFill>
                <a:latin typeface="Cambria"/>
              </a:rPr>
              <a:t>Caregiver context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 dirty="0">
                <a:solidFill>
                  <a:srgbClr val="26262B"/>
                </a:solidFill>
                <a:latin typeface="Cambria"/>
              </a:rPr>
              <a:t>Alert with time, summary, fall probability; delivery tracked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767474" y="34290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FB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6858914" y="3493008"/>
            <a:ext cx="1783080" cy="66325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 dirty="0">
                <a:solidFill>
                  <a:schemeClr val="tx1"/>
                </a:solidFill>
                <a:latin typeface="Cambria"/>
              </a:rPr>
              <a:t>Sensor heartbeat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0" i="0" dirty="0">
                <a:solidFill>
                  <a:srgbClr val="26262B"/>
                </a:solidFill>
                <a:latin typeface="Cambria"/>
              </a:rPr>
              <a:t>Caregiver app shows the sensor is online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62020C-63AD-FC29-7B9E-7D434BC5BFCF}"/>
              </a:ext>
            </a:extLst>
          </p:cNvPr>
          <p:cNvSpPr txBox="1"/>
          <p:nvPr/>
        </p:nvSpPr>
        <p:spPr>
          <a:xfrm>
            <a:off x="502920" y="1109990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SDG 3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46F0E9-255D-EF41-7DED-5925FB707960}"/>
              </a:ext>
            </a:extLst>
          </p:cNvPr>
          <p:cNvSpPr txBox="1"/>
          <p:nvPr/>
        </p:nvSpPr>
        <p:spPr>
          <a:xfrm>
            <a:off x="3337560" y="1109990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SDG 9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A597A6-8164-7A7E-64D1-A1763E8E6A9F}"/>
              </a:ext>
            </a:extLst>
          </p:cNvPr>
          <p:cNvSpPr txBox="1"/>
          <p:nvPr/>
        </p:nvSpPr>
        <p:spPr>
          <a:xfrm>
            <a:off x="6132473" y="1109990"/>
            <a:ext cx="822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SDG 10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"/>
          <p:cNvSpPr txBox="1">
            <a:spLocks noGrp="1"/>
          </p:cNvSpPr>
          <p:nvPr>
            <p:ph type="title"/>
          </p:nvPr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dirty="0">
                <a:solidFill>
                  <a:schemeClr val="tx1"/>
                </a:solidFill>
                <a:latin typeface="Cambria"/>
              </a:rPr>
              <a:t>Student Contribution &amp; Research Presentation</a:t>
            </a:r>
            <a:endParaRPr sz="2200" b="1" dirty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0" name="Rounded Rectangle 129"/>
          <p:cNvSpPr/>
          <p:nvPr/>
        </p:nvSpPr>
        <p:spPr>
          <a:xfrm>
            <a:off x="411480" y="960120"/>
            <a:ext cx="4069080" cy="2331720"/>
          </a:xfrm>
          <a:prstGeom prst="roundRect">
            <a:avLst>
              <a:gd name="adj" fmla="val 6000"/>
            </a:avLst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502920" y="1024128"/>
            <a:ext cx="3886200" cy="16891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 dirty="0">
                <a:solidFill>
                  <a:schemeClr val="tx1"/>
                </a:solidFill>
                <a:latin typeface="Cambria"/>
              </a:rPr>
              <a:t>Team deliverables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200" b="0" i="0" dirty="0">
                <a:solidFill>
                  <a:srgbClr val="26262B"/>
                </a:solidFill>
                <a:latin typeface="Cambria"/>
              </a:rPr>
              <a:t>Provisional patent specification: field, prior-art novelty analysis, detailed description, 9 figures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200" b="0" i="0" dirty="0" err="1">
                <a:solidFill>
                  <a:srgbClr val="26262B"/>
                </a:solidFill>
                <a:latin typeface="Cambria"/>
              </a:rPr>
              <a:t>FallGuardNet</a:t>
            </a:r>
            <a:r>
              <a:rPr sz="1200" b="0" i="0" dirty="0">
                <a:solidFill>
                  <a:srgbClr val="26262B"/>
                </a:solidFill>
                <a:latin typeface="Cambria"/>
              </a:rPr>
              <a:t> design, distillation training and edge deployment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200" b="0" i="0" dirty="0">
                <a:solidFill>
                  <a:srgbClr val="26262B"/>
                </a:solidFill>
                <a:latin typeface="Cambria"/>
              </a:rPr>
              <a:t>ESP32 CSI acquisition and windowing pipeline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200" b="0" i="0" dirty="0">
                <a:solidFill>
                  <a:srgbClr val="26262B"/>
                </a:solidFill>
                <a:latin typeface="Cambria"/>
              </a:rPr>
              <a:t>Agentic voice layer with rule-based escalation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200" b="0" i="0" dirty="0">
                <a:solidFill>
                  <a:srgbClr val="26262B"/>
                </a:solidFill>
                <a:latin typeface="Cambria"/>
              </a:rPr>
              <a:t>Benchmark against 7 baseline models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663440" y="960120"/>
            <a:ext cx="4069080" cy="2331720"/>
          </a:xfrm>
          <a:prstGeom prst="roundRect">
            <a:avLst>
              <a:gd name="adj" fmla="val 6000"/>
            </a:avLst>
          </a:prstGeom>
          <a:solidFill>
            <a:srgbClr val="FB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4754879" y="1024128"/>
            <a:ext cx="3886200" cy="16378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 i="0" dirty="0">
                <a:solidFill>
                  <a:schemeClr val="tx1"/>
                </a:solidFill>
                <a:latin typeface="Cambria"/>
              </a:rPr>
              <a:t>Next steps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200" b="0" i="0" dirty="0">
                <a:solidFill>
                  <a:srgbClr val="26262B"/>
                </a:solidFill>
                <a:latin typeface="Cambria"/>
              </a:rPr>
              <a:t>Validate on a larger ESP32-captured test set (current test: 10 fall recordings)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200" b="0" i="0" dirty="0">
                <a:solidFill>
                  <a:srgbClr val="26262B"/>
                </a:solidFill>
                <a:latin typeface="Cambria"/>
              </a:rPr>
              <a:t>Train baseline classifiers on public datasets (UT-HAR, </a:t>
            </a:r>
            <a:r>
              <a:rPr sz="1200" b="0" i="0" dirty="0" err="1">
                <a:solidFill>
                  <a:srgbClr val="26262B"/>
                </a:solidFill>
                <a:latin typeface="Cambria"/>
              </a:rPr>
              <a:t>FallDeFi</a:t>
            </a:r>
            <a:r>
              <a:rPr sz="1200" b="0" i="0" dirty="0">
                <a:solidFill>
                  <a:srgbClr val="26262B"/>
                </a:solidFill>
                <a:latin typeface="Cambria"/>
              </a:rPr>
              <a:t>, CSI-Bench)</a:t>
            </a:r>
          </a:p>
          <a:p>
            <a:pPr marL="155448" indent="-155448" algn="l">
              <a:lnSpc>
                <a:spcPct val="100000"/>
              </a:lnSpc>
              <a:spcAft>
                <a:spcPts val="200"/>
              </a:spcAft>
              <a:buChar char="•"/>
            </a:pPr>
            <a:r>
              <a:rPr sz="1200" b="0" i="0" dirty="0">
                <a:solidFill>
                  <a:srgbClr val="26262B"/>
                </a:solidFill>
                <a:latin typeface="Cambria"/>
              </a:rPr>
              <a:t>Address hardware domain shift between Intel 5300 NIC datasets and ESP32 subcarriers; </a:t>
            </a:r>
            <a:r>
              <a:rPr sz="1200" b="0" i="0" dirty="0" err="1">
                <a:solidFill>
                  <a:srgbClr val="26262B"/>
                </a:solidFill>
                <a:latin typeface="Cambria"/>
              </a:rPr>
              <a:t>cWGAN</a:t>
            </a:r>
            <a:r>
              <a:rPr sz="1200" b="0" i="0" dirty="0">
                <a:solidFill>
                  <a:srgbClr val="26262B"/>
                </a:solidFill>
                <a:latin typeface="Cambria"/>
              </a:rPr>
              <a:t>-GP domain adaptation planned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11480" y="3429000"/>
            <a:ext cx="8321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D9822B"/>
                </a:solidFill>
                <a:latin typeface="Cambria"/>
              </a:rPr>
              <a:t>Inventors / team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11480" y="3749039"/>
            <a:ext cx="1965960" cy="457200"/>
          </a:xfrm>
          <a:prstGeom prst="roundRect">
            <a:avLst>
              <a:gd name="adj" fmla="val 6000"/>
            </a:avLst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411480" y="3749039"/>
            <a:ext cx="19659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 i="0" dirty="0">
                <a:solidFill>
                  <a:srgbClr val="FFFFFF"/>
                </a:solidFill>
                <a:latin typeface="Cambria"/>
              </a:rPr>
              <a:t>Neha Mankani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530144" y="3749039"/>
            <a:ext cx="1965960" cy="457200"/>
          </a:xfrm>
          <a:prstGeom prst="roundRect">
            <a:avLst>
              <a:gd name="adj" fmla="val 6000"/>
            </a:avLst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2530144" y="3749039"/>
            <a:ext cx="19659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mbria"/>
              </a:rPr>
              <a:t>Shraddha Bhagwat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648809" y="3749039"/>
            <a:ext cx="1965960" cy="457200"/>
          </a:xfrm>
          <a:prstGeom prst="roundRect">
            <a:avLst>
              <a:gd name="adj" fmla="val 6000"/>
            </a:avLst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4648809" y="3749039"/>
            <a:ext cx="19659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mbria"/>
              </a:rPr>
              <a:t>Shambhavi Patil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767474" y="3749039"/>
            <a:ext cx="1965960" cy="457200"/>
          </a:xfrm>
          <a:prstGeom prst="roundRect">
            <a:avLst>
              <a:gd name="adj" fmla="val 6000"/>
            </a:avLst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6767474" y="3749039"/>
            <a:ext cx="196596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mbria"/>
              </a:rPr>
              <a:t>Supriya Nayak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11480" y="4315968"/>
            <a:ext cx="83210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 dirty="0">
                <a:solidFill>
                  <a:srgbClr val="5A5F73"/>
                </a:solidFill>
                <a:latin typeface="Cambria"/>
              </a:rPr>
              <a:t>Mentors: Dr. Mrs. </a:t>
            </a:r>
            <a:r>
              <a:rPr sz="1100" b="0" i="0" dirty="0" err="1">
                <a:solidFill>
                  <a:srgbClr val="5A5F73"/>
                </a:solidFill>
                <a:latin typeface="Cambria"/>
              </a:rPr>
              <a:t>Gresha</a:t>
            </a:r>
            <a:r>
              <a:rPr sz="1100" b="0" i="0" dirty="0">
                <a:solidFill>
                  <a:srgbClr val="5A5F73"/>
                </a:solidFill>
                <a:latin typeface="Cambria"/>
              </a:rPr>
              <a:t> Bhatia · Dr. Mrs. Priya R.L. · Dr. Mrs. Saylee </a:t>
            </a:r>
            <a:r>
              <a:rPr sz="1100" b="0" i="0" dirty="0" err="1">
                <a:solidFill>
                  <a:srgbClr val="5A5F73"/>
                </a:solidFill>
                <a:latin typeface="Cambria"/>
              </a:rPr>
              <a:t>Gharge</a:t>
            </a:r>
            <a:r>
              <a:rPr sz="1100" b="0" i="0" dirty="0">
                <a:solidFill>
                  <a:srgbClr val="5A5F73"/>
                </a:solidFill>
                <a:latin typeface="Cambria"/>
              </a:rPr>
              <a:t> — VESIT, Chembur, Mumbai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title"/>
          </p:nvPr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sz="2000" b="1" i="0" dirty="0">
                <a:solidFill>
                  <a:schemeClr val="tx1"/>
                </a:solidFill>
                <a:latin typeface="Cambria"/>
              </a:rPr>
              <a:t>References</a:t>
            </a:r>
            <a:endParaRPr dirty="0">
              <a:solidFill>
                <a:schemeClr val="tx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411480" y="1005840"/>
            <a:ext cx="8321040" cy="329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300" b="0" i="0">
                <a:solidFill>
                  <a:srgbClr val="26262B"/>
                </a:solidFill>
                <a:latin typeface="Cambria"/>
              </a:rPr>
              <a:t>[1]  United States Patent No. US 10,531,817 B2, “Fall Detection Method and System,” Peking University.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300" b="0" i="0">
                <a:solidFill>
                  <a:srgbClr val="26262B"/>
                </a:solidFill>
                <a:latin typeface="Cambria"/>
              </a:rPr>
              <a:t>[2]  Chinese Patent No. CN 112346050 B, “Fall detection method and system based on Wi-Fi device,” Tsinghua University, granted 28 June 2024.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300" b="0" i="0">
                <a:solidFill>
                  <a:srgbClr val="26262B"/>
                </a:solidFill>
                <a:latin typeface="Cambria"/>
              </a:rPr>
              <a:t>[3]  United States Patent Application Publication No. US 2024/0112559 A1, “Privacy-Preserving Radar-Based Fall Monitoring,” Google LLC, published 4 April 2024.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300" b="0" i="0">
                <a:solidFill>
                  <a:srgbClr val="26262B"/>
                </a:solidFill>
                <a:latin typeface="Cambria"/>
              </a:rPr>
              <a:t>[4]  United States Patent No. US 8,217,795 B2, “Method and system for fall detection,” J. Carlton-Foss, granted 10 July 2012.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2013</Words>
  <Application>Microsoft Office PowerPoint</Application>
  <PresentationFormat>On-screen Show (16:9)</PresentationFormat>
  <Paragraphs>265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Simple Light</vt:lpstr>
      <vt:lpstr>Privacy-Preserving Wi-Fi CSI-Based Fall Detection System with Edge Neural Inference and Event-Driven Agentic Voice Interaction for Rule-Based Caregiver Escalation</vt:lpstr>
      <vt:lpstr>Content</vt:lpstr>
      <vt:lpstr>Research Problem Formulation</vt:lpstr>
      <vt:lpstr>Novelty &amp; Research Contribution</vt:lpstr>
      <vt:lpstr>Literature Review &amp; Research Gap Analysis</vt:lpstr>
      <vt:lpstr>Research Methodology / Experimental Design  (1/3)</vt:lpstr>
      <vt:lpstr>Research Methodology / Experimental Design  (2/3)</vt:lpstr>
      <vt:lpstr>Research Methodology / Experimental Design  (3/3)</vt:lpstr>
      <vt:lpstr>Modern Tool Usage</vt:lpstr>
      <vt:lpstr>Result Analysis &amp; Validation</vt:lpstr>
      <vt:lpstr>Quality of Figures, Tables, etc.</vt:lpstr>
      <vt:lpstr>Manuscript Organization &amp; Technical Writing</vt:lpstr>
      <vt:lpstr>References &amp; Their Relevance</vt:lpstr>
      <vt:lpstr>SDG / Societal / Practical Relevance</vt:lpstr>
      <vt:lpstr>Student Contribution &amp; Research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Priya123</dc:creator>
  <cp:lastModifiedBy>Supriya nayak</cp:lastModifiedBy>
  <cp:revision>2</cp:revision>
  <dcterms:modified xsi:type="dcterms:W3CDTF">2026-10-12T08:32:11Z</dcterms:modified>
</cp:coreProperties>
</file>